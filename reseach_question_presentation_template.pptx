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1020"/>
  </p:normalViewPr>
  <p:slideViewPr>
    <p:cSldViewPr snapToGrid="0">
      <p:cViewPr varScale="1">
        <p:scale>
          <a:sx n="104" d="100"/>
          <a:sy n="104" d="100"/>
        </p:scale>
        <p:origin x="232" y="456"/>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19/11/2025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19/11/2025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Research Question – </a:t>
            </a:r>
            <a:br>
              <a:rPr lang="en-US"/>
            </a:br>
            <a:r>
              <a:rPr lang="en-US" sz="4000"/>
              <a:t>Tutorial Presentation for Feedback</a:t>
            </a:r>
            <a:br>
              <a:rPr lang="en-US" sz="4000"/>
            </a:br>
            <a:r>
              <a:rPr lang="en-US" sz="2200"/>
              <a:t>Date: 19 November 2025</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a:t>Group Name: A-199                                                  Name of Student Presenting: Danial Zafa.</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a:t>7COM1079-2025  Student Group No: A-199                  </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a:solidFill>
                  <a:srgbClr val="203232"/>
                </a:solidFill>
                <a:cs typeface="Arial"/>
              </a:rPr>
              <a:t>Here is a sample of our dataset: </a:t>
            </a:r>
            <a:endParaRPr lang="en-GB" sz="180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A-199</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1</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5289" y="1890914"/>
            <a:ext cx="9965844" cy="2649857"/>
          </a:xfrm>
        </p:spPr>
        <p:txBody>
          <a:bodyPr>
            <a:normAutofit/>
          </a:bodyPr>
          <a:lstStyle/>
          <a:p>
            <a:pPr>
              <a:lnSpc>
                <a:spcPts val="2880"/>
              </a:lnSpc>
              <a:spcBef>
                <a:spcPts val="0"/>
              </a:spcBef>
              <a:spcAft>
                <a:spcPts val="992"/>
              </a:spcAft>
            </a:pPr>
            <a:r>
              <a:rPr lang="en-GB" sz="1800" b="0" spc="0">
                <a:latin typeface="+mn-lt"/>
                <a:cs typeface="Arial"/>
              </a:rPr>
              <a:t>Our database represents the weather in the city of London from 1979 to 2020, which was provided by the Eurpean Climate Assessment(ECA). The </a:t>
            </a:r>
            <a:r>
              <a:rPr lang="en-GB" sz="1800" b="0" spc="0">
                <a:cs typeface="Arial"/>
              </a:rPr>
              <a:t>database has 10 columns and 15,341 Rows. We will use </a:t>
            </a:r>
            <a:r>
              <a:rPr lang="en-GB" sz="1800" b="0" spc="0">
                <a:highlight>
                  <a:srgbClr val="C0C0C0"/>
                </a:highlight>
                <a:latin typeface="Courier New" panose="02070309020205020404" pitchFamily="49" charset="0"/>
                <a:cs typeface="Courier New" panose="02070309020205020404" pitchFamily="49" charset="0"/>
              </a:rPr>
              <a:t>precipitation</a:t>
            </a:r>
            <a:r>
              <a:rPr lang="en-GB" sz="1800" b="0" spc="0">
                <a:cs typeface="Arial"/>
              </a:rPr>
              <a:t>(mm) and </a:t>
            </a:r>
            <a:r>
              <a:rPr lang="en-GB" sz="1800" b="0" spc="0">
                <a:highlight>
                  <a:srgbClr val="C0C0C0"/>
                </a:highlight>
                <a:latin typeface="Courier New" panose="02070309020205020404" pitchFamily="49" charset="0"/>
                <a:cs typeface="Courier New" panose="02070309020205020404" pitchFamily="49" charset="0"/>
              </a:rPr>
              <a:t>date</a:t>
            </a:r>
            <a:r>
              <a:rPr lang="en-GB" sz="1800" b="0" spc="0">
                <a:cs typeface="Arial"/>
              </a:rPr>
              <a:t> columns.</a:t>
            </a:r>
            <a:endParaRPr lang="en-US" sz="1800">
              <a:solidFill>
                <a:srgbClr val="FF0000"/>
              </a:solidFill>
              <a:latin typeface="+mn-lt"/>
              <a:cs typeface="Arial"/>
            </a:endParaRPr>
          </a:p>
        </p:txBody>
      </p:sp>
      <p:pic>
        <p:nvPicPr>
          <p:cNvPr id="10" name="Picture 9" descr="A white background with black text and numbers&#10;&#10;AI-generated content may be incorrect.">
            <a:extLst>
              <a:ext uri="{FF2B5EF4-FFF2-40B4-BE49-F238E27FC236}">
                <a16:creationId xmlns:a16="http://schemas.microsoft.com/office/drawing/2014/main" id="{086E223B-F7AA-88DE-ACCD-96150DBF28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876" y="3321700"/>
            <a:ext cx="10653815" cy="1660506"/>
          </a:xfrm>
          <a:prstGeom prst="rect">
            <a:avLst/>
          </a:prstGeom>
        </p:spPr>
      </p:pic>
      <p:sp>
        <p:nvSpPr>
          <p:cNvPr id="13" name="Rounded Rectangle 12">
            <a:extLst>
              <a:ext uri="{FF2B5EF4-FFF2-40B4-BE49-F238E27FC236}">
                <a16:creationId xmlns:a16="http://schemas.microsoft.com/office/drawing/2014/main" id="{E4483C8D-7038-FF74-6D5D-2800D42899EB}"/>
              </a:ext>
            </a:extLst>
          </p:cNvPr>
          <p:cNvSpPr/>
          <p:nvPr/>
        </p:nvSpPr>
        <p:spPr>
          <a:xfrm>
            <a:off x="872358" y="3321700"/>
            <a:ext cx="893379" cy="1660506"/>
          </a:xfrm>
          <a:prstGeom prst="round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6290850E-7D37-1852-35A7-46336419F552}"/>
              </a:ext>
            </a:extLst>
          </p:cNvPr>
          <p:cNvSpPr/>
          <p:nvPr/>
        </p:nvSpPr>
        <p:spPr>
          <a:xfrm>
            <a:off x="8066689" y="3321700"/>
            <a:ext cx="1329559" cy="1660506"/>
          </a:xfrm>
          <a:prstGeom prst="roundRect">
            <a:avLst/>
          </a:prstGeom>
          <a:noFill/>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a:t>Dataset </a:t>
            </a:r>
            <a:r>
              <a:rPr lang="en-US">
                <a:solidFill>
                  <a:srgbClr val="203232"/>
                </a:solidFill>
              </a:rPr>
              <a:t>ID DS134</a:t>
            </a:r>
            <a:r>
              <a:rPr lang="en-US" sz="2400">
                <a:solidFill>
                  <a:srgbClr val="FF0000"/>
                </a:solidFill>
              </a:rPr>
              <a:t> </a:t>
            </a:r>
            <a:endParaRPr lang="en-US">
              <a:solidFill>
                <a:srgbClr val="203232"/>
              </a:solidFill>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a:t>7COM1079-2025  Student Group No: A-199                    Names of Student Group Attendees: Danial Zafa.</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2308657"/>
            <a:ext cx="10974945" cy="929281"/>
          </a:xfrm>
        </p:spPr>
        <p:txBody>
          <a:bodyPr>
            <a:noAutofit/>
          </a:bodyPr>
          <a:lstStyle/>
          <a:p>
            <a:pPr>
              <a:lnSpc>
                <a:spcPct val="100000"/>
              </a:lnSpc>
            </a:pPr>
            <a:r>
              <a:rPr lang="en-US" sz="1800" b="0" spc="0">
                <a:latin typeface="Arial" panose="020B0604020202020204" pitchFamily="34" charset="0"/>
                <a:cs typeface="Arial" panose="020B0604020202020204" pitchFamily="34" charset="0"/>
              </a:rPr>
              <a:t>This dataset is interesting to us because, as newcomers to the city, we want to scientifically compare the data behind London’s world-famous constant rains.</a:t>
            </a:r>
            <a:br>
              <a:rPr lang="en-US" sz="2400" b="0">
                <a:latin typeface="Calibri" panose="020F0502020204030204" pitchFamily="34" charset="0"/>
                <a:cs typeface="Calibri" panose="020F0502020204030204" pitchFamily="34" charset="0"/>
              </a:rPr>
            </a:br>
            <a:br>
              <a:rPr lang="en-US" sz="2400" b="0">
                <a:latin typeface="Calibri" panose="020F0502020204030204" pitchFamily="34" charset="0"/>
                <a:cs typeface="Calibri" panose="020F0502020204030204" pitchFamily="34" charset="0"/>
              </a:rPr>
            </a:br>
            <a:endParaRPr lang="en-US" sz="2400" b="0">
              <a:solidFill>
                <a:srgbClr val="FF0000"/>
              </a:solidFill>
              <a:latin typeface="Calibri"/>
              <a:cs typeface="Calibri"/>
            </a:endParaRPr>
          </a:p>
        </p:txBody>
      </p:sp>
      <p:sp>
        <p:nvSpPr>
          <p:cNvPr id="7" name="TextBox 6">
            <a:extLst>
              <a:ext uri="{FF2B5EF4-FFF2-40B4-BE49-F238E27FC236}">
                <a16:creationId xmlns:a16="http://schemas.microsoft.com/office/drawing/2014/main" id="{C6DD2984-9707-1D90-D131-42E743E94208}"/>
              </a:ext>
            </a:extLst>
          </p:cNvPr>
          <p:cNvSpPr txBox="1"/>
          <p:nvPr/>
        </p:nvSpPr>
        <p:spPr>
          <a:xfrm>
            <a:off x="830716" y="3654222"/>
            <a:ext cx="10746596" cy="338554"/>
          </a:xfrm>
          <a:prstGeom prst="rect">
            <a:avLst/>
          </a:prstGeom>
          <a:noFill/>
        </p:spPr>
        <p:txBody>
          <a:bodyPr wrap="none" rtlCol="0">
            <a:spAutoFit/>
          </a:bodyPr>
          <a:lstStyle/>
          <a:p>
            <a:r>
              <a:rPr lang="en-US" sz="1600" b="1"/>
              <a:t>Independent Variable: </a:t>
            </a:r>
            <a:r>
              <a:rPr lang="en-US" sz="1600">
                <a:highlight>
                  <a:srgbClr val="C0C0C0"/>
                </a:highlight>
                <a:latin typeface="Courier New" panose="02070309020205020404" pitchFamily="49" charset="0"/>
                <a:cs typeface="Courier New" panose="02070309020205020404" pitchFamily="49" charset="0"/>
              </a:rPr>
              <a:t>date</a:t>
            </a:r>
            <a:r>
              <a:rPr lang="en-US" sz="1600" b="1"/>
              <a:t> ==&gt; </a:t>
            </a:r>
            <a:r>
              <a:rPr lang="en-US" sz="1600">
                <a:highlight>
                  <a:srgbClr val="C0C0C0"/>
                </a:highlight>
                <a:latin typeface="Courier New" panose="02070309020205020404" pitchFamily="49" charset="0"/>
                <a:cs typeface="Courier New" panose="02070309020205020404" pitchFamily="49" charset="0"/>
              </a:rPr>
              <a:t>Season</a:t>
            </a:r>
            <a:r>
              <a:rPr lang="en-US" sz="1600" b="1"/>
              <a:t> (Nominal)         |         Dependent Variable: </a:t>
            </a:r>
            <a:r>
              <a:rPr lang="en-US" sz="1600">
                <a:highlight>
                  <a:srgbClr val="C0C0C0"/>
                </a:highlight>
                <a:latin typeface="Courier New" panose="02070309020205020404" pitchFamily="49" charset="0"/>
                <a:cs typeface="Courier New" panose="02070309020205020404" pitchFamily="49" charset="0"/>
              </a:rPr>
              <a:t>precipitation</a:t>
            </a:r>
            <a:r>
              <a:rPr lang="en-US" sz="1600" b="1"/>
              <a:t> (Interval)</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a:t>Our Research Question is</a:t>
            </a:r>
            <a:endParaRPr lang="en-GB" sz="180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A-199</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8" y="1944884"/>
            <a:ext cx="10640594" cy="514112"/>
          </a:xfrm>
        </p:spPr>
        <p:txBody>
          <a:bodyPr>
            <a:noAutofit/>
          </a:bodyPr>
          <a:lstStyle/>
          <a:p>
            <a:pPr>
              <a:lnSpc>
                <a:spcPct val="100000"/>
              </a:lnSpc>
            </a:pPr>
            <a:r>
              <a:rPr lang="en-IE" sz="1800" b="0" spc="0">
                <a:latin typeface="Arial" panose="020B0604020202020204" pitchFamily="34" charset="0"/>
                <a:ea typeface="Calibri" panose="020F0502020204030204" pitchFamily="34" charset="0"/>
                <a:cs typeface="Arial" panose="020B0604020202020204" pitchFamily="34" charset="0"/>
              </a:rPr>
              <a:t>Is there a difference in the mean of daily </a:t>
            </a:r>
            <a:r>
              <a:rPr lang="en-IE" sz="1800" spc="0">
                <a:latin typeface="Arial" panose="020B0604020202020204" pitchFamily="34" charset="0"/>
                <a:ea typeface="Calibri" panose="020F0502020204030204" pitchFamily="34" charset="0"/>
                <a:cs typeface="Arial" panose="020B0604020202020204" pitchFamily="34" charset="0"/>
              </a:rPr>
              <a:t>precipitation</a:t>
            </a:r>
            <a:r>
              <a:rPr lang="en-IE" sz="1800" b="0" spc="0">
                <a:latin typeface="Arial" panose="020B0604020202020204" pitchFamily="34" charset="0"/>
                <a:ea typeface="Calibri" panose="020F0502020204030204" pitchFamily="34" charset="0"/>
                <a:cs typeface="Arial" panose="020B0604020202020204" pitchFamily="34" charset="0"/>
              </a:rPr>
              <a:t> among the </a:t>
            </a:r>
            <a:r>
              <a:rPr lang="en-IE" sz="1800" spc="0">
                <a:latin typeface="Arial" panose="020B0604020202020204" pitchFamily="34" charset="0"/>
                <a:ea typeface="Calibri" panose="020F0502020204030204" pitchFamily="34" charset="0"/>
                <a:cs typeface="Arial" panose="020B0604020202020204" pitchFamily="34" charset="0"/>
              </a:rPr>
              <a:t>seasons</a:t>
            </a:r>
            <a:r>
              <a:rPr lang="en-IE" sz="1800" b="0" spc="0">
                <a:latin typeface="Arial" panose="020B0604020202020204" pitchFamily="34" charset="0"/>
                <a:ea typeface="Calibri" panose="020F0502020204030204" pitchFamily="34" charset="0"/>
                <a:cs typeface="Arial" panose="020B0604020202020204" pitchFamily="34" charset="0"/>
              </a:rPr>
              <a:t>?</a:t>
            </a:r>
            <a:endParaRPr lang="en-GB" sz="1800" b="0" spc="0">
              <a:solidFill>
                <a:srgbClr val="FF0000"/>
              </a:solidFill>
              <a:latin typeface="Arial" panose="020B0604020202020204" pitchFamily="34" charset="0"/>
              <a:cs typeface="Arial" panose="020B0604020202020204" pitchFamily="34" charset="0"/>
            </a:endParaRPr>
          </a:p>
        </p:txBody>
      </p:sp>
      <p:sp>
        <p:nvSpPr>
          <p:cNvPr id="6" name="Subtitle 1">
            <a:extLst>
              <a:ext uri="{FF2B5EF4-FFF2-40B4-BE49-F238E27FC236}">
                <a16:creationId xmlns:a16="http://schemas.microsoft.com/office/drawing/2014/main" id="{28ACD5C1-E397-77DD-B851-CD0276A55D20}"/>
              </a:ext>
            </a:extLst>
          </p:cNvPr>
          <p:cNvSpPr txBox="1">
            <a:spLocks/>
          </p:cNvSpPr>
          <p:nvPr/>
        </p:nvSpPr>
        <p:spPr>
          <a:xfrm>
            <a:off x="965288" y="2917168"/>
            <a:ext cx="9753625" cy="230832"/>
          </a:xfrm>
          <a:prstGeom prst="rect">
            <a:avLst/>
          </a:prstGeom>
        </p:spPr>
        <p:txBody>
          <a:bodyPr vert="horz" lIns="0" tIns="0" rIns="0" bIns="0" rtlCol="0">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tx2"/>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Aft>
                <a:spcPts val="0"/>
              </a:spcAft>
            </a:pPr>
            <a:r>
              <a:rPr lang="en-GB"/>
              <a:t>Our Research Hypotheses are</a:t>
            </a:r>
            <a:endParaRPr lang="en-GB" sz="1800">
              <a:solidFill>
                <a:srgbClr val="FF0000"/>
              </a:solidFill>
            </a:endParaRPr>
          </a:p>
        </p:txBody>
      </p:sp>
      <p:sp>
        <p:nvSpPr>
          <p:cNvPr id="14" name="Rectangle 4">
            <a:extLst>
              <a:ext uri="{FF2B5EF4-FFF2-40B4-BE49-F238E27FC236}">
                <a16:creationId xmlns:a16="http://schemas.microsoft.com/office/drawing/2014/main" id="{F24476E1-4B33-AF97-80E0-6074B944523A}"/>
              </a:ext>
            </a:extLst>
          </p:cNvPr>
          <p:cNvSpPr>
            <a:spLocks noChangeArrowheads="1"/>
          </p:cNvSpPr>
          <p:nvPr/>
        </p:nvSpPr>
        <p:spPr bwMode="auto">
          <a:xfrm>
            <a:off x="965288" y="3606172"/>
            <a:ext cx="9123010" cy="1554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30"/>
              </a:spcBef>
              <a:spcAft>
                <a:spcPts val="130"/>
              </a:spcAft>
              <a:buClrTx/>
              <a:buSzTx/>
              <a:tabLst/>
            </a:pPr>
            <a:r>
              <a:rPr kumimoji="0" lang="en-US" altLang="en-US" sz="1800" i="0" u="none" strike="noStrike" cap="none" normalizeH="0" baseline="0">
                <a:ln>
                  <a:noFill/>
                </a:ln>
                <a:solidFill>
                  <a:srgbClr val="000000"/>
                </a:solidFill>
                <a:effectLst/>
                <a:latin typeface="Arial" panose="020B0604020202020204" pitchFamily="34" charset="0"/>
              </a:rPr>
              <a:t>Null hypothesis (H</a:t>
            </a:r>
            <a:r>
              <a:rPr kumimoji="0" lang="en-US" altLang="en-US" sz="1800" i="0" u="none" strike="noStrike" cap="none" normalizeH="0" baseline="-25000">
                <a:ln>
                  <a:noFill/>
                </a:ln>
                <a:solidFill>
                  <a:srgbClr val="000000"/>
                </a:solidFill>
                <a:effectLst/>
                <a:latin typeface="Arial" panose="020B0604020202020204" pitchFamily="34" charset="0"/>
              </a:rPr>
              <a:t>0</a:t>
            </a:r>
            <a:r>
              <a:rPr kumimoji="0" lang="en-US" altLang="en-US" sz="1800" i="0" u="none" strike="noStrike" cap="none" normalizeH="0" baseline="0">
                <a:ln>
                  <a:noFill/>
                </a:ln>
                <a:solidFill>
                  <a:srgbClr val="000000"/>
                </a:solidFill>
                <a:effectLst/>
                <a:latin typeface="Arial" panose="020B0604020202020204" pitchFamily="34" charset="0"/>
              </a:rPr>
              <a:t>​): </a:t>
            </a:r>
          </a:p>
          <a:p>
            <a:pPr marL="0" marR="0" lvl="0" indent="0" algn="l" defTabSz="914400" rtl="0" eaLnBrk="0" fontAlgn="base" latinLnBrk="0" hangingPunct="0">
              <a:lnSpc>
                <a:spcPct val="100000"/>
              </a:lnSpc>
              <a:spcBef>
                <a:spcPts val="130"/>
              </a:spcBef>
              <a:spcAft>
                <a:spcPts val="130"/>
              </a:spcAft>
              <a:buClrTx/>
              <a:buSzTx/>
              <a:tabLst/>
            </a:pPr>
            <a:r>
              <a:rPr kumimoji="0" lang="en-US" altLang="en-US" sz="1800" b="0" i="0" u="none" strike="noStrike" cap="none" normalizeH="0" baseline="0">
                <a:ln>
                  <a:noFill/>
                </a:ln>
                <a:solidFill>
                  <a:srgbClr val="000000"/>
                </a:solidFill>
                <a:effectLst/>
                <a:latin typeface="Arial" panose="020B0604020202020204" pitchFamily="34" charset="0"/>
              </a:rPr>
              <a:t>There is </a:t>
            </a:r>
            <a:r>
              <a:rPr kumimoji="0" lang="en-US" altLang="en-US" sz="1800" b="1" i="0" u="none" strike="noStrike" cap="none" normalizeH="0" baseline="0">
                <a:ln>
                  <a:noFill/>
                </a:ln>
                <a:solidFill>
                  <a:srgbClr val="000000"/>
                </a:solidFill>
                <a:effectLst/>
                <a:latin typeface="Arial" panose="020B0604020202020204" pitchFamily="34" charset="0"/>
              </a:rPr>
              <a:t>no difference</a:t>
            </a:r>
            <a:r>
              <a:rPr kumimoji="0" lang="en-US" altLang="en-US" sz="1800" b="0" i="0" u="none" strike="noStrike" cap="none" normalizeH="0" baseline="0">
                <a:ln>
                  <a:noFill/>
                </a:ln>
                <a:solidFill>
                  <a:srgbClr val="000000"/>
                </a:solidFill>
                <a:effectLst/>
                <a:latin typeface="Arial" panose="020B0604020202020204" pitchFamily="34" charset="0"/>
              </a:rPr>
              <a:t> in the mean of daily precipitation among the seasons in London.</a:t>
            </a:r>
          </a:p>
          <a:p>
            <a:pPr marL="0" marR="0" lvl="0" indent="0" algn="l" defTabSz="914400" rtl="0" eaLnBrk="0" fontAlgn="base" latinLnBrk="0" hangingPunct="0">
              <a:lnSpc>
                <a:spcPct val="100000"/>
              </a:lnSpc>
              <a:spcBef>
                <a:spcPts val="130"/>
              </a:spcBef>
              <a:spcAft>
                <a:spcPts val="130"/>
              </a:spcAft>
              <a:buClrTx/>
              <a:buSzTx/>
              <a:tabLst/>
            </a:pPr>
            <a:br>
              <a:rPr kumimoji="0" lang="en-US" altLang="en-US" sz="1800" i="0" u="none" strike="noStrike" cap="none" normalizeH="0" baseline="0">
                <a:ln>
                  <a:noFill/>
                </a:ln>
                <a:solidFill>
                  <a:srgbClr val="000000"/>
                </a:solidFill>
                <a:effectLst/>
                <a:latin typeface="Arial" panose="020B0604020202020204" pitchFamily="34" charset="0"/>
              </a:rPr>
            </a:br>
            <a:r>
              <a:rPr kumimoji="0" lang="en-US" altLang="en-US" sz="1800" i="0" u="none" strike="noStrike" cap="none" normalizeH="0" baseline="0">
                <a:ln>
                  <a:noFill/>
                </a:ln>
                <a:solidFill>
                  <a:srgbClr val="000000"/>
                </a:solidFill>
                <a:effectLst/>
                <a:latin typeface="Arial" panose="020B0604020202020204" pitchFamily="34" charset="0"/>
              </a:rPr>
              <a:t>Alternative hypothesis (H</a:t>
            </a:r>
            <a:r>
              <a:rPr kumimoji="0" lang="en-US" altLang="en-US" sz="1800" i="0" u="none" strike="noStrike" cap="none" normalizeH="0" baseline="-25000">
                <a:ln>
                  <a:noFill/>
                </a:ln>
                <a:solidFill>
                  <a:srgbClr val="000000"/>
                </a:solidFill>
                <a:effectLst/>
                <a:latin typeface="Arial" panose="020B0604020202020204" pitchFamily="34" charset="0"/>
              </a:rPr>
              <a:t>1</a:t>
            </a:r>
            <a:r>
              <a:rPr kumimoji="0" lang="en-US" altLang="en-US" sz="1800" i="0" u="none" strike="noStrike" cap="none" normalizeH="0" baseline="0">
                <a:ln>
                  <a:noFill/>
                </a:ln>
                <a:solidFill>
                  <a:srgbClr val="000000"/>
                </a:solidFill>
                <a:effectLst/>
                <a:latin typeface="Arial" panose="020B0604020202020204" pitchFamily="34" charset="0"/>
              </a:rPr>
              <a:t>​): </a:t>
            </a:r>
          </a:p>
          <a:p>
            <a:pPr marL="0" marR="0" lvl="0" indent="0" algn="l" defTabSz="914400" rtl="0" eaLnBrk="0" fontAlgn="base" latinLnBrk="0" hangingPunct="0">
              <a:lnSpc>
                <a:spcPct val="100000"/>
              </a:lnSpc>
              <a:spcBef>
                <a:spcPts val="130"/>
              </a:spcBef>
              <a:spcAft>
                <a:spcPts val="130"/>
              </a:spcAft>
              <a:buClrTx/>
              <a:buSzTx/>
              <a:tabLst/>
            </a:pPr>
            <a:r>
              <a:rPr kumimoji="0" lang="en-US" altLang="en-US" sz="1800" b="0" i="0" u="none" strike="noStrike" cap="none" normalizeH="0" baseline="0">
                <a:ln>
                  <a:noFill/>
                </a:ln>
                <a:solidFill>
                  <a:srgbClr val="000000"/>
                </a:solidFill>
                <a:effectLst/>
                <a:latin typeface="Arial" panose="020B0604020202020204" pitchFamily="34" charset="0"/>
              </a:rPr>
              <a:t>There is </a:t>
            </a:r>
            <a:r>
              <a:rPr kumimoji="0" lang="en-US" altLang="en-US" sz="1800" b="1" i="0" u="none" strike="noStrike" cap="none" normalizeH="0" baseline="0">
                <a:ln>
                  <a:noFill/>
                </a:ln>
                <a:solidFill>
                  <a:srgbClr val="000000"/>
                </a:solidFill>
                <a:effectLst/>
                <a:latin typeface="Arial" panose="020B0604020202020204" pitchFamily="34" charset="0"/>
              </a:rPr>
              <a:t>a difference </a:t>
            </a:r>
            <a:r>
              <a:rPr kumimoji="0" lang="en-US" altLang="en-US" sz="1800" b="0" i="0" u="none" strike="noStrike" cap="none" normalizeH="0" baseline="0">
                <a:ln>
                  <a:noFill/>
                </a:ln>
                <a:solidFill>
                  <a:srgbClr val="000000"/>
                </a:solidFill>
                <a:effectLst/>
                <a:latin typeface="Arial" panose="020B0604020202020204" pitchFamily="34" charset="0"/>
              </a:rPr>
              <a:t>in the mean of daily precipitation among the seasons in London.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140</TotalTime>
  <Words>236</Words>
  <Application>Microsoft Macintosh PowerPoint</Application>
  <PresentationFormat>Widescreen</PresentationFormat>
  <Paragraphs>24</Paragraphs>
  <Slides>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Courier New</vt:lpstr>
      <vt:lpstr>Herts Theme</vt:lpstr>
      <vt:lpstr>Research Question –  Tutorial Presentation for Feedback Date: 19 November 2025 </vt:lpstr>
      <vt:lpstr>Our database represents the weather in the city of London from 1979 to 2020, which was provided by the Eurpean Climate Assessment(ECA). The database has 10 columns and 15,341 Rows. We will use precipitation(mm) and date columns.</vt:lpstr>
      <vt:lpstr>This dataset is interesting to us because, as newcomers to the city, we want to scientifically compare the data behind London’s world-famous constant rains.  </vt:lpstr>
      <vt:lpstr>Is there a difference in the mean of daily precipitation among the seasons?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Danial Zafaranchizadeh Moghaddam [Student-PECS]</cp:lastModifiedBy>
  <cp:revision>121</cp:revision>
  <dcterms:created xsi:type="dcterms:W3CDTF">2019-10-01T08:37:56Z</dcterms:created>
  <dcterms:modified xsi:type="dcterms:W3CDTF">2025-11-19T12:46:09Z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