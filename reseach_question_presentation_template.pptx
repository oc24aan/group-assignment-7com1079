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19/11/2025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19/11/2025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Research Question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Name: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a:t>7COM1079-2025  Student Group No: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2089858"/>
            <a:ext cx="9965844" cy="2649857"/>
          </a:xfrm>
        </p:spPr>
        <p:txBody>
          <a:bodyPr>
            <a:normAutofit fontScale="90000"/>
          </a:bodyPr>
          <a:lstStyle/>
          <a:p>
            <a:pPr>
              <a:lnSpc>
                <a:spcPts val="2880"/>
              </a:lnSpc>
              <a:spcBef>
                <a:spcPts val="0"/>
              </a:spcBef>
              <a:spcAft>
                <a:spcPts val="992"/>
              </a:spcAft>
            </a:pPr>
            <a:r>
              <a:rPr lang="en-GB" sz="3600">
                <a:solidFill>
                  <a:srgbClr val="FF0000"/>
                </a:solidFill>
                <a:cs typeface="Arial"/>
              </a:rPr>
              <a:t>Include summary information of your dataset, to include </a:t>
            </a:r>
            <a:endParaRPr lang="en-US" sz="3600" b="0">
              <a:solidFill>
                <a:srgbClr val="FF0000"/>
              </a:solidFill>
              <a:cs typeface="Arial"/>
            </a:endParaRPr>
          </a:p>
          <a:p>
            <a:pPr marL="742950" indent="-742950">
              <a:lnSpc>
                <a:spcPts val="2880"/>
              </a:lnSpc>
              <a:spcBef>
                <a:spcPts val="0"/>
              </a:spcBef>
              <a:spcAft>
                <a:spcPts val="992"/>
              </a:spcAft>
              <a:buAutoNum type="arabicPeriod"/>
            </a:pPr>
            <a:r>
              <a:rPr lang="en-GB" sz="3600">
                <a:solidFill>
                  <a:srgbClr val="FF0000"/>
                </a:solidFill>
                <a:cs typeface="Arial"/>
              </a:rPr>
              <a:t>The columns/variable names you include in your research question  (two columns).</a:t>
            </a:r>
            <a:endParaRPr lang="en-US" sz="3600" b="0" dirty="0">
              <a:solidFill>
                <a:srgbClr val="FF0000"/>
              </a:solidFill>
              <a:cs typeface="Arial"/>
            </a:endParaRPr>
          </a:p>
          <a:p>
            <a:pPr marL="742950" indent="-742950">
              <a:lnSpc>
                <a:spcPts val="2880"/>
              </a:lnSpc>
              <a:spcBef>
                <a:spcPts val="0"/>
              </a:spcBef>
              <a:spcAft>
                <a:spcPts val="992"/>
              </a:spcAft>
              <a:buAutoNum type="arabicPeriod"/>
            </a:pPr>
            <a:r>
              <a:rPr lang="en-GB" sz="3600">
                <a:solidFill>
                  <a:srgbClr val="FF0000"/>
                </a:solidFill>
                <a:cs typeface="Arial"/>
              </a:rPr>
              <a:t>At least 5 rows of the data</a:t>
            </a:r>
            <a:endParaRPr lang="en-US" sz="3600" b="0">
              <a:solidFill>
                <a:srgbClr val="FF0000"/>
              </a:solidFill>
              <a:cs typeface="Arial"/>
            </a:endParaRPr>
          </a:p>
          <a:p>
            <a:pPr marL="742950" indent="-742950">
              <a:lnSpc>
                <a:spcPts val="2880"/>
              </a:lnSpc>
              <a:spcBef>
                <a:spcPts val="0"/>
              </a:spcBef>
              <a:spcAft>
                <a:spcPts val="992"/>
              </a:spcAft>
              <a:buAutoNum type="arabicPeriod"/>
            </a:pPr>
            <a:r>
              <a:rPr lang="en-GB" sz="3600">
                <a:solidFill>
                  <a:srgbClr val="FF0000"/>
                </a:solidFill>
                <a:cs typeface="Arial"/>
              </a:rPr>
              <a:t>Tell us how many rows your dataset has.</a:t>
            </a:r>
            <a:br>
              <a:rPr lang="en-GB" sz="3600" dirty="0">
                <a:solidFill>
                  <a:srgbClr val="FF0000"/>
                </a:solidFill>
                <a:cs typeface="Arial"/>
              </a:rPr>
            </a:br>
            <a:endParaRPr lang="en-GB" sz="3600">
              <a:solidFill>
                <a:srgbClr val="FF0000"/>
              </a:solidFill>
              <a:cs typeface="Arial"/>
            </a:endParaRPr>
          </a:p>
          <a:p>
            <a:endParaRPr lang="en-US">
              <a:solidFill>
                <a:srgbClr val="FF0000"/>
              </a:solidFill>
              <a:cs typeface="Arial"/>
            </a:endParaRPr>
          </a:p>
        </p:txBody>
      </p:sp>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a:t>Dataset </a:t>
            </a:r>
            <a:r>
              <a:rPr lang="en-US">
                <a:solidFill>
                  <a:srgbClr val="203232"/>
                </a:solidFill>
              </a:rPr>
              <a:t>ID</a:t>
            </a:r>
            <a:r>
              <a:rPr lang="en-US" sz="1600">
                <a:solidFill>
                  <a:srgbClr val="FF0000"/>
                </a:solidFill>
              </a:rPr>
              <a:t>:   </a:t>
            </a:r>
            <a:r>
              <a:rPr lang="en-US" sz="2400">
                <a:solidFill>
                  <a:srgbClr val="FF0000"/>
                </a:solidFill>
              </a:rPr>
              <a:t>(replace this text with your DSXXX number and filename)</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a:latin typeface="Calibri"/>
                <a:cs typeface="Calibri"/>
              </a:rPr>
              <a:t>This dataset is interesting to us because </a:t>
            </a:r>
            <a:r>
              <a:rPr lang="en-US" sz="2400" b="0">
                <a:solidFill>
                  <a:srgbClr val="FF0000"/>
                </a:solidFill>
                <a:latin typeface="Calibri"/>
                <a:cs typeface="Calibri"/>
              </a:rPr>
              <a:t>(one sentence):</a:t>
            </a:r>
            <a:br>
              <a:rPr lang="en-US" sz="2400" b="0">
                <a:latin typeface="Calibri" panose="020F0502020204030204" pitchFamily="34" charset="0"/>
                <a:cs typeface="Calibri" panose="020F0502020204030204" pitchFamily="34" charset="0"/>
              </a:rPr>
            </a:br>
            <a:br>
              <a:rPr lang="en-US" sz="2400" b="0">
                <a:latin typeface="Calibri" panose="020F0502020204030204" pitchFamily="34" charset="0"/>
                <a:cs typeface="Calibri" panose="020F0502020204030204" pitchFamily="34" charset="0"/>
              </a:rPr>
            </a:br>
            <a:r>
              <a:rPr lang="en-US" sz="2400" b="0" i="1">
                <a:solidFill>
                  <a:schemeClr val="accent2">
                    <a:lumMod val="75000"/>
                  </a:schemeClr>
                </a:solidFill>
                <a:latin typeface="Calibri"/>
                <a:cs typeface="Calibri"/>
              </a:rPr>
              <a:t>From the column headings in your dataset choose ONE independent * and ONE dependent variable . </a:t>
            </a:r>
            <a:br>
              <a:rPr lang="en-US" sz="2400" b="0">
                <a:latin typeface="Calibri" panose="020F0502020204030204" pitchFamily="34" charset="0"/>
                <a:cs typeface="Calibri" panose="020F0502020204030204" pitchFamily="34" charset="0"/>
              </a:rPr>
            </a:br>
            <a:r>
              <a:rPr lang="en-US" sz="2400" b="0">
                <a:latin typeface="Calibri"/>
                <a:cs typeface="Calibri"/>
              </a:rPr>
              <a:t>Our  Independent variable is: (</a:t>
            </a:r>
            <a:r>
              <a:rPr lang="en-US" sz="2400" b="0">
                <a:solidFill>
                  <a:srgbClr val="FF0000"/>
                </a:solidFill>
                <a:latin typeface="Calibri"/>
                <a:cs typeface="Calibri"/>
              </a:rPr>
              <a:t>the variable that remains constant /could cause an effect  on dep var)</a:t>
            </a:r>
            <a:br>
              <a:rPr lang="en-US" sz="2400" b="0">
                <a:latin typeface="Calibri" panose="020F0502020204030204" pitchFamily="34" charset="0"/>
                <a:cs typeface="Calibri" panose="020F0502020204030204" pitchFamily="34" charset="0"/>
              </a:rPr>
            </a:br>
            <a:r>
              <a:rPr lang="en-US" sz="2400" b="0">
                <a:solidFill>
                  <a:srgbClr val="FF0000"/>
                </a:solidFill>
                <a:latin typeface="Calibri"/>
                <a:cs typeface="Calibri"/>
              </a:rPr>
              <a:t>                   </a:t>
            </a:r>
            <a:r>
              <a:rPr lang="en-US" sz="2400" b="0">
                <a:latin typeface="Calibri"/>
                <a:cs typeface="Calibri"/>
              </a:rPr>
              <a:t>This  Independent variable datatype is (select one): </a:t>
            </a:r>
            <a:r>
              <a:rPr lang="en-US" sz="2400" b="0">
                <a:solidFill>
                  <a:srgbClr val="FF0000"/>
                </a:solidFill>
                <a:latin typeface="Calibri"/>
                <a:cs typeface="Calibri"/>
              </a:rPr>
              <a:t>Nominal/categorial  OR Ordinal OR Interval/measurement data.</a:t>
            </a:r>
            <a:br>
              <a:rPr lang="en-US" sz="2400" b="0">
                <a:latin typeface="Calibri" panose="020F0502020204030204" pitchFamily="34" charset="0"/>
                <a:cs typeface="Calibri" panose="020F0502020204030204" pitchFamily="34" charset="0"/>
              </a:rPr>
            </a:br>
            <a:r>
              <a:rPr lang="en-US" sz="2400" b="0">
                <a:latin typeface="Calibri"/>
                <a:cs typeface="Calibri"/>
              </a:rPr>
              <a:t>Our Dependent variable is: </a:t>
            </a:r>
            <a:r>
              <a:rPr lang="en-US" sz="2400" b="0">
                <a:solidFill>
                  <a:srgbClr val="FF0000"/>
                </a:solidFill>
                <a:latin typeface="Calibri"/>
                <a:cs typeface="Calibri"/>
              </a:rPr>
              <a:t>(your outcome variable that answers your RQ)</a:t>
            </a:r>
            <a:br>
              <a:rPr lang="en-US" sz="2400" b="0">
                <a:latin typeface="Calibri" panose="020F0502020204030204" pitchFamily="34" charset="0"/>
                <a:cs typeface="Calibri" panose="020F0502020204030204" pitchFamily="34" charset="0"/>
              </a:rPr>
            </a:br>
            <a:r>
              <a:rPr lang="en-US" sz="2400" b="0">
                <a:solidFill>
                  <a:srgbClr val="FF0000"/>
                </a:solidFill>
                <a:latin typeface="Calibri"/>
                <a:cs typeface="Calibri"/>
              </a:rPr>
              <a:t>                   </a:t>
            </a:r>
            <a:r>
              <a:rPr lang="en-US" sz="2400" b="0">
                <a:latin typeface="Calibri"/>
                <a:cs typeface="Calibri"/>
              </a:rPr>
              <a:t>This Dependent variable datatype is  (select one): </a:t>
            </a:r>
            <a:r>
              <a:rPr lang="en-US" sz="2400" b="0">
                <a:solidFill>
                  <a:srgbClr val="FF0000"/>
                </a:solidFill>
                <a:latin typeface="Calibri"/>
                <a:cs typeface="Calibri"/>
              </a:rPr>
              <a:t>Nominal/categorial  OR Ordinal OR Interval/measurement data</a:t>
            </a:r>
          </a:p>
        </p:txBody>
      </p:sp>
      <p:sp>
        <p:nvSpPr>
          <p:cNvPr id="6" name="TextBox 5">
            <a:extLst>
              <a:ext uri="{FF2B5EF4-FFF2-40B4-BE49-F238E27FC236}">
                <a16:creationId xmlns:a16="http://schemas.microsoft.com/office/drawing/2014/main" id="{732D6C0D-D649-2AA9-7741-835F3E841A25}"/>
              </a:ext>
            </a:extLst>
          </p:cNvPr>
          <p:cNvSpPr txBox="1"/>
          <p:nvPr/>
        </p:nvSpPr>
        <p:spPr>
          <a:xfrm>
            <a:off x="6766560" y="5385816"/>
            <a:ext cx="4187952" cy="1200329"/>
          </a:xfrm>
          <a:prstGeom prst="rect">
            <a:avLst/>
          </a:prstGeom>
          <a:noFill/>
        </p:spPr>
        <p:txBody>
          <a:bodyPr wrap="square" rtlCol="0">
            <a:spAutoFit/>
          </a:bodyPr>
          <a:lstStyle/>
          <a:p>
            <a:r>
              <a:rPr lang="en-GB">
                <a:solidFill>
                  <a:schemeClr val="accent2">
                    <a:lumMod val="75000"/>
                  </a:schemeClr>
                </a:solidFill>
              </a:rPr>
              <a:t>*For comparison of two nominal variables and for comparison of proportions you use two (or more) independent variables (see next slide)</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a:t>Our Research Question is </a:t>
            </a:r>
            <a:r>
              <a:rPr lang="en-GB" sz="1800">
                <a:solidFill>
                  <a:srgbClr val="FF0000"/>
                </a:solidFill>
              </a:rPr>
              <a:t>Choose ONE of the three templates below replacing the blue text with your variables – then add hypotheses as shown in next slide:</a:t>
            </a: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2678085"/>
          </a:xfrm>
        </p:spPr>
        <p:txBody>
          <a:bodyPr>
            <a:noAutofit/>
          </a:bodyPr>
          <a:lstStyle/>
          <a:p>
            <a:pPr>
              <a:lnSpc>
                <a:spcPct val="100000"/>
              </a:lnSpc>
            </a:pPr>
            <a:r>
              <a:rPr lang="en-IE" sz="2400">
                <a:effectLst/>
                <a:latin typeface="Calibri"/>
                <a:ea typeface="Calibri" panose="020F0502020204030204" pitchFamily="34" charset="0"/>
                <a:cs typeface="Times New Roman"/>
              </a:rPr>
              <a:t>Template </a:t>
            </a:r>
            <a:r>
              <a:rPr lang="en-IE" sz="2400" baseline="30000">
                <a:effectLst/>
                <a:latin typeface="Calibri"/>
                <a:ea typeface="Calibri" panose="020F0502020204030204" pitchFamily="34" charset="0"/>
                <a:cs typeface="Times New Roman"/>
              </a:rPr>
              <a:t>1</a:t>
            </a:r>
            <a:r>
              <a:rPr lang="en-IE" sz="2400">
                <a:effectLst/>
                <a:latin typeface="Calibri"/>
                <a:ea typeface="Calibri" panose="020F0502020204030204" pitchFamily="34" charset="0"/>
                <a:cs typeface="Times New Roman"/>
              </a:rPr>
              <a:t>: </a:t>
            </a:r>
            <a:r>
              <a:rPr lang="en-IE" sz="2400" b="0">
                <a:effectLst/>
                <a:latin typeface="Calibri"/>
                <a:ea typeface="Calibri" panose="020F0502020204030204" pitchFamily="34" charset="0"/>
                <a:cs typeface="Times New Roman"/>
              </a:rPr>
              <a:t>Interval/Ordinal vs Interval/Ordinal: “Is there a correlation between </a:t>
            </a:r>
            <a:r>
              <a:rPr lang="en-IE" sz="2400" b="0">
                <a:solidFill>
                  <a:srgbClr val="0070C0"/>
                </a:solidFill>
                <a:effectLst/>
                <a:latin typeface="Calibri"/>
                <a:ea typeface="Calibri" panose="020F0502020204030204" pitchFamily="34" charset="0"/>
                <a:cs typeface="Times New Roman"/>
              </a:rPr>
              <a:t>[dependent interval </a:t>
            </a:r>
            <a:r>
              <a:rPr lang="en-IE" sz="2400" b="0">
                <a:effectLst/>
                <a:latin typeface="Calibri"/>
                <a:ea typeface="Calibri" panose="020F0502020204030204" pitchFamily="34" charset="0"/>
                <a:cs typeface="Times New Roman"/>
              </a:rPr>
              <a:t>or</a:t>
            </a:r>
            <a:r>
              <a:rPr lang="en-IE" sz="2400" b="0">
                <a:solidFill>
                  <a:srgbClr val="0070C0"/>
                </a:solidFill>
                <a:effectLst/>
                <a:latin typeface="Calibri"/>
                <a:ea typeface="Calibri" panose="020F0502020204030204" pitchFamily="34" charset="0"/>
                <a:cs typeface="Times New Roman"/>
              </a:rPr>
              <a:t> ordinal variable] </a:t>
            </a:r>
            <a:r>
              <a:rPr lang="en-IE" sz="2400" b="0">
                <a:effectLst/>
                <a:latin typeface="Calibri"/>
                <a:ea typeface="Calibri" panose="020F0502020204030204" pitchFamily="34" charset="0"/>
                <a:cs typeface="Times New Roman"/>
              </a:rPr>
              <a:t>and </a:t>
            </a:r>
            <a:r>
              <a:rPr lang="en-IE" sz="2400" b="0">
                <a:solidFill>
                  <a:srgbClr val="0070C0"/>
                </a:solidFill>
                <a:effectLst/>
                <a:latin typeface="Calibri"/>
                <a:ea typeface="Calibri" panose="020F0502020204030204" pitchFamily="34" charset="0"/>
                <a:cs typeface="Times New Roman"/>
              </a:rPr>
              <a:t>[independent interval </a:t>
            </a:r>
            <a:r>
              <a:rPr lang="en-IE" sz="2400" b="0">
                <a:effectLst/>
                <a:latin typeface="Calibri"/>
                <a:ea typeface="Calibri" panose="020F0502020204030204" pitchFamily="34" charset="0"/>
                <a:cs typeface="Times New Roman"/>
              </a:rPr>
              <a:t>or</a:t>
            </a:r>
            <a:r>
              <a:rPr lang="en-IE" sz="2400" b="0">
                <a:solidFill>
                  <a:srgbClr val="0070C0"/>
                </a:solidFill>
                <a:effectLst/>
                <a:latin typeface="Calibri"/>
                <a:ea typeface="Calibri" panose="020F0502020204030204" pitchFamily="34" charset="0"/>
                <a:cs typeface="Times New Roman"/>
              </a:rPr>
              <a:t> ordinal variable?]”</a:t>
            </a:r>
            <a:r>
              <a:rPr lang="en-IE" sz="2400" b="0">
                <a:effectLst/>
                <a:latin typeface="Calibri"/>
                <a:ea typeface="Calibri" panose="020F0502020204030204" pitchFamily="34" charset="0"/>
                <a:cs typeface="Times New Roman"/>
              </a:rPr>
              <a:t>. </a:t>
            </a:r>
            <a:br>
              <a:rPr lang="en-IE" sz="2400">
                <a:effectLst/>
                <a:latin typeface="Calibri" panose="020F0502020204030204" pitchFamily="34" charset="0"/>
                <a:ea typeface="Calibri" panose="020F0502020204030204" pitchFamily="34" charset="0"/>
                <a:cs typeface="Times New Roman" panose="02020603050405020304" pitchFamily="18" charset="0"/>
              </a:rPr>
            </a:br>
            <a:br>
              <a:rPr lang="en-IE" sz="2400">
                <a:effectLst/>
                <a:latin typeface="Calibri" panose="020F0502020204030204" pitchFamily="34" charset="0"/>
                <a:ea typeface="Calibri" panose="020F0502020204030204" pitchFamily="34" charset="0"/>
                <a:cs typeface="Times New Roman" panose="02020603050405020304" pitchFamily="18" charset="0"/>
              </a:rPr>
            </a:br>
            <a:r>
              <a:rPr lang="en-IE" sz="2400">
                <a:effectLst/>
                <a:latin typeface="Calibri"/>
                <a:ea typeface="Calibri" panose="020F0502020204030204" pitchFamily="34" charset="0"/>
                <a:cs typeface="Times New Roman"/>
              </a:rPr>
              <a:t>Template</a:t>
            </a:r>
            <a:r>
              <a:rPr lang="en-IE" sz="2400" baseline="30000">
                <a:effectLst/>
                <a:latin typeface="Calibri"/>
                <a:ea typeface="Calibri" panose="020F0502020204030204" pitchFamily="34" charset="0"/>
                <a:cs typeface="Times New Roman"/>
              </a:rPr>
              <a:t>2</a:t>
            </a:r>
            <a:r>
              <a:rPr lang="en-IE" sz="2400">
                <a:effectLst/>
                <a:latin typeface="Calibri"/>
                <a:ea typeface="Calibri" panose="020F0502020204030204" pitchFamily="34" charset="0"/>
                <a:cs typeface="Times New Roman"/>
              </a:rPr>
              <a:t> :</a:t>
            </a:r>
            <a:r>
              <a:rPr lang="en-IE" sz="2400" b="0">
                <a:effectLst/>
                <a:latin typeface="Calibri"/>
                <a:ea typeface="Calibri" panose="020F0502020204030204" pitchFamily="34" charset="0"/>
                <a:cs typeface="Times New Roman"/>
              </a:rPr>
              <a:t>Interval/Ordinal vs Nominal. data “Is there a difference in the mean of </a:t>
            </a:r>
            <a:r>
              <a:rPr lang="en-IE" sz="2400" b="0">
                <a:solidFill>
                  <a:srgbClr val="0070C0"/>
                </a:solidFill>
                <a:effectLst/>
                <a:latin typeface="Calibri"/>
                <a:ea typeface="Calibri" panose="020F0502020204030204" pitchFamily="34" charset="0"/>
                <a:cs typeface="Times New Roman"/>
              </a:rPr>
              <a:t>[dependent interval variable </a:t>
            </a:r>
            <a:r>
              <a:rPr lang="en-IE" sz="2400" b="0">
                <a:solidFill>
                  <a:srgbClr val="0070C0"/>
                </a:solidFill>
                <a:latin typeface="Calibri"/>
                <a:ea typeface="Calibri" panose="020F0502020204030204" pitchFamily="34" charset="0"/>
                <a:cs typeface="Times New Roman"/>
              </a:rPr>
              <a:t> </a:t>
            </a:r>
            <a:r>
              <a:rPr lang="en-IE" sz="2400" b="0">
                <a:latin typeface="Calibri"/>
                <a:ea typeface="Calibri" panose="020F0502020204030204" pitchFamily="34" charset="0"/>
                <a:cs typeface="Times New Roman"/>
              </a:rPr>
              <a:t>or</a:t>
            </a:r>
            <a:r>
              <a:rPr lang="en-IE" sz="2400" b="0">
                <a:effectLst/>
                <a:latin typeface="Calibri"/>
                <a:ea typeface="Calibri" panose="020F0502020204030204" pitchFamily="34" charset="0"/>
                <a:cs typeface="Times New Roman"/>
              </a:rPr>
              <a:t> </a:t>
            </a:r>
            <a:r>
              <a:rPr lang="en-IE" sz="2400" b="0">
                <a:solidFill>
                  <a:srgbClr val="0070C0"/>
                </a:solidFill>
                <a:effectLst/>
                <a:latin typeface="Calibri"/>
                <a:ea typeface="Calibri" panose="020F0502020204030204" pitchFamily="34" charset="0"/>
                <a:cs typeface="Times New Roman"/>
              </a:rPr>
              <a:t> dependent ordinal variable] </a:t>
            </a:r>
            <a:r>
              <a:rPr lang="en-IE" sz="2400" b="0">
                <a:effectLst/>
                <a:latin typeface="Calibri"/>
                <a:ea typeface="Calibri" panose="020F0502020204030204" pitchFamily="34" charset="0"/>
                <a:cs typeface="Times New Roman"/>
              </a:rPr>
              <a:t>between</a:t>
            </a:r>
            <a:r>
              <a:rPr lang="en-IE" sz="2400" b="0">
                <a:latin typeface="Calibri"/>
                <a:ea typeface="Calibri" panose="020F0502020204030204" pitchFamily="34" charset="0"/>
                <a:cs typeface="Times New Roman"/>
              </a:rPr>
              <a:t>/among</a:t>
            </a:r>
            <a:r>
              <a:rPr lang="en-IE" sz="2400" b="0">
                <a:effectLst/>
                <a:latin typeface="Calibri"/>
                <a:ea typeface="Calibri" panose="020F0502020204030204" pitchFamily="34" charset="0"/>
                <a:cs typeface="Times New Roman"/>
              </a:rPr>
              <a:t> </a:t>
            </a:r>
            <a:r>
              <a:rPr lang="en-IE" sz="2400" b="0">
                <a:solidFill>
                  <a:srgbClr val="0070C0"/>
                </a:solidFill>
                <a:effectLst/>
                <a:latin typeface="Calibri"/>
                <a:ea typeface="Calibri" panose="020F0502020204030204" pitchFamily="34" charset="0"/>
                <a:cs typeface="Times New Roman"/>
              </a:rPr>
              <a:t>[independent nominal variable] and [independent nominal variable?]</a:t>
            </a:r>
            <a:r>
              <a:rPr lang="en-IE" sz="2400" b="0">
                <a:effectLst/>
                <a:latin typeface="Calibri"/>
                <a:ea typeface="Calibri" panose="020F0502020204030204" pitchFamily="34" charset="0"/>
                <a:cs typeface="Times New Roman"/>
              </a:rPr>
              <a:t>”.</a:t>
            </a:r>
            <a:br>
              <a:rPr lang="en-GB" sz="2400" b="0">
                <a:effectLst/>
                <a:latin typeface="Calibri" panose="020F0502020204030204" pitchFamily="34" charset="0"/>
                <a:ea typeface="Calibri" panose="020F0502020204030204" pitchFamily="34" charset="0"/>
                <a:cs typeface="Times New Roman" panose="02020603050405020304" pitchFamily="18" charset="0"/>
              </a:rPr>
            </a:br>
            <a:br>
              <a:rPr lang="en-IE" sz="2400">
                <a:effectLst/>
                <a:latin typeface="Calibri" panose="020F0502020204030204" pitchFamily="34" charset="0"/>
                <a:ea typeface="Calibri" panose="020F0502020204030204" pitchFamily="34" charset="0"/>
                <a:cs typeface="Times New Roman" panose="02020603050405020304" pitchFamily="18" charset="0"/>
              </a:rPr>
            </a:br>
            <a:r>
              <a:rPr lang="en-IE" sz="2400">
                <a:solidFill>
                  <a:srgbClr val="000000"/>
                </a:solidFill>
                <a:effectLst/>
                <a:latin typeface="Calibri"/>
                <a:ea typeface="Calibri" panose="020F0502020204030204" pitchFamily="34" charset="0"/>
                <a:cs typeface="Times New Roman"/>
              </a:rPr>
              <a:t>Template </a:t>
            </a:r>
            <a:r>
              <a:rPr lang="en-IE" sz="2400" baseline="30000">
                <a:solidFill>
                  <a:srgbClr val="000000"/>
                </a:solidFill>
                <a:effectLst/>
                <a:latin typeface="Calibri"/>
                <a:ea typeface="Calibri" panose="020F0502020204030204" pitchFamily="34" charset="0"/>
                <a:cs typeface="Times New Roman"/>
              </a:rPr>
              <a:t>3</a:t>
            </a:r>
            <a:r>
              <a:rPr lang="en-IE" sz="2400">
                <a:solidFill>
                  <a:srgbClr val="000000"/>
                </a:solidFill>
                <a:effectLst/>
                <a:latin typeface="Calibri"/>
                <a:ea typeface="Calibri" panose="020F0502020204030204" pitchFamily="34" charset="0"/>
                <a:cs typeface="Times New Roman"/>
              </a:rPr>
              <a:t>:  </a:t>
            </a:r>
            <a:r>
              <a:rPr lang="en-IE" sz="2400" b="0">
                <a:solidFill>
                  <a:srgbClr val="000000"/>
                </a:solidFill>
                <a:effectLst/>
                <a:latin typeface="Calibri"/>
                <a:ea typeface="Calibri" panose="020F0502020204030204" pitchFamily="34" charset="0"/>
                <a:cs typeface="Times New Roman"/>
              </a:rPr>
              <a:t>Nominal vs Nominal  data (frequencies): “</a:t>
            </a:r>
            <a:r>
              <a:rPr lang="en-IE" sz="2400" b="0">
                <a:effectLst/>
                <a:latin typeface="Calibri"/>
                <a:ea typeface="Calibri" panose="020F0502020204030204" pitchFamily="34" charset="0"/>
                <a:cs typeface="Times New Roman"/>
              </a:rPr>
              <a:t>Is there a difference in proportions of </a:t>
            </a:r>
            <a:r>
              <a:rPr lang="en-IE" sz="2400" b="0">
                <a:solidFill>
                  <a:srgbClr val="0070C0"/>
                </a:solidFill>
                <a:effectLst/>
                <a:latin typeface="Calibri"/>
                <a:ea typeface="Calibri" panose="020F0502020204030204" pitchFamily="34" charset="0"/>
                <a:cs typeface="Times New Roman"/>
              </a:rPr>
              <a:t>[dependent nominal variable] </a:t>
            </a:r>
            <a:r>
              <a:rPr lang="en-IE" sz="2400" b="0">
                <a:effectLst/>
                <a:latin typeface="Calibri"/>
                <a:ea typeface="Calibri" panose="020F0502020204030204" pitchFamily="34" charset="0"/>
                <a:cs typeface="Times New Roman"/>
              </a:rPr>
              <a:t>between </a:t>
            </a:r>
            <a:r>
              <a:rPr lang="en-IE" sz="2400" b="0">
                <a:solidFill>
                  <a:srgbClr val="0070C0"/>
                </a:solidFill>
                <a:effectLst/>
                <a:latin typeface="Calibri"/>
                <a:ea typeface="Calibri" panose="020F0502020204030204" pitchFamily="34" charset="0"/>
                <a:cs typeface="Times New Roman"/>
              </a:rPr>
              <a:t>[independent nominal variable] </a:t>
            </a:r>
            <a:r>
              <a:rPr lang="en-IE" sz="2400" b="0">
                <a:effectLst/>
                <a:latin typeface="Calibri"/>
                <a:ea typeface="Calibri" panose="020F0502020204030204" pitchFamily="34" charset="0"/>
                <a:cs typeface="Times New Roman"/>
              </a:rPr>
              <a:t>and </a:t>
            </a:r>
            <a:r>
              <a:rPr lang="en-IE" sz="2400" b="0">
                <a:solidFill>
                  <a:srgbClr val="0070C0"/>
                </a:solidFill>
                <a:effectLst/>
                <a:latin typeface="Calibri"/>
                <a:ea typeface="Calibri" panose="020F0502020204030204" pitchFamily="34" charset="0"/>
                <a:cs typeface="Times New Roman"/>
              </a:rPr>
              <a:t>[independent nominal variable]?”</a:t>
            </a:r>
            <a:br>
              <a:rPr lang="en-GB" sz="2400">
                <a:effectLst/>
                <a:latin typeface="Calibri" panose="020F0502020204030204" pitchFamily="34" charset="0"/>
                <a:ea typeface="Calibri" panose="020F0502020204030204" pitchFamily="34" charset="0"/>
                <a:cs typeface="Times New Roman" panose="02020603050405020304" pitchFamily="18" charset="0"/>
              </a:rPr>
            </a:br>
            <a:endParaRPr lang="en-GB" sz="240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a:t>1</a:t>
            </a:r>
            <a:r>
              <a:rPr lang="en-GB" b="1">
                <a:latin typeface="Calibri"/>
                <a:cs typeface="Calibri"/>
              </a:rPr>
              <a:t>Correlation</a:t>
            </a:r>
            <a:r>
              <a:rPr lang="en-GB"/>
              <a:t> (</a:t>
            </a:r>
            <a:r>
              <a:rPr lang="en-IE" sz="1800">
                <a:effectLst/>
                <a:latin typeface="Calibri"/>
                <a:ea typeface="Calibri" panose="020F0502020204030204" pitchFamily="34" charset="0"/>
                <a:cs typeface="Times New Roman"/>
              </a:rPr>
              <a:t>Analysis of how </a:t>
            </a:r>
            <a:r>
              <a:rPr lang="en-IE" sz="1800">
                <a:solidFill>
                  <a:srgbClr val="FF0000"/>
                </a:solidFill>
                <a:effectLst/>
                <a:latin typeface="Calibri"/>
                <a:ea typeface="Calibri" panose="020F0502020204030204" pitchFamily="34" charset="0"/>
                <a:cs typeface="Times New Roman"/>
              </a:rPr>
              <a:t>ordinal</a:t>
            </a:r>
            <a:r>
              <a:rPr lang="en-IE">
                <a:solidFill>
                  <a:srgbClr val="FF0000"/>
                </a:solidFill>
                <a:latin typeface="Calibri"/>
                <a:ea typeface="Calibri" panose="020F0502020204030204" pitchFamily="34" charset="0"/>
                <a:cs typeface="Times New Roman"/>
              </a:rPr>
              <a:t>/</a:t>
            </a:r>
            <a:r>
              <a:rPr lang="en-IE" sz="1800">
                <a:solidFill>
                  <a:srgbClr val="FF0000"/>
                </a:solidFill>
                <a:effectLst/>
                <a:latin typeface="Calibri"/>
                <a:ea typeface="Calibri" panose="020F0502020204030204" pitchFamily="34" charset="0"/>
                <a:cs typeface="Times New Roman"/>
              </a:rPr>
              <a:t>interval </a:t>
            </a:r>
            <a:r>
              <a:rPr lang="en-IE" sz="1800">
                <a:solidFill>
                  <a:srgbClr val="00B050"/>
                </a:solidFill>
                <a:effectLst/>
                <a:latin typeface="Calibri"/>
                <a:ea typeface="Calibri" panose="020F0502020204030204" pitchFamily="34" charset="0"/>
                <a:cs typeface="Times New Roman"/>
              </a:rPr>
              <a:t>dependent var</a:t>
            </a:r>
            <a:r>
              <a:rPr lang="en-IE" sz="1800">
                <a:effectLst/>
                <a:latin typeface="Calibri"/>
                <a:ea typeface="Calibri" panose="020F0502020204030204" pitchFamily="34" charset="0"/>
                <a:cs typeface="Times New Roman"/>
              </a:rPr>
              <a:t> </a:t>
            </a:r>
            <a:r>
              <a:rPr lang="en-IE">
                <a:latin typeface="Calibri"/>
                <a:ea typeface="Calibri" panose="020F0502020204030204" pitchFamily="34" charset="0"/>
                <a:cs typeface="Times New Roman"/>
              </a:rPr>
              <a:t>correlates </a:t>
            </a:r>
            <a:r>
              <a:rPr lang="en-IE" sz="1800">
                <a:effectLst/>
                <a:latin typeface="Calibri"/>
                <a:ea typeface="Calibri" panose="020F0502020204030204" pitchFamily="34" charset="0"/>
                <a:cs typeface="Times New Roman"/>
              </a:rPr>
              <a:t>to an </a:t>
            </a:r>
            <a:r>
              <a:rPr lang="en-IE" sz="1800">
                <a:solidFill>
                  <a:srgbClr val="FF0000"/>
                </a:solidFill>
                <a:effectLst/>
                <a:latin typeface="Calibri"/>
                <a:ea typeface="Calibri" panose="020F0502020204030204" pitchFamily="34" charset="0"/>
                <a:cs typeface="Times New Roman"/>
              </a:rPr>
              <a:t>ordinal/interval </a:t>
            </a:r>
            <a:r>
              <a:rPr lang="en-IE" sz="1800">
                <a:solidFill>
                  <a:srgbClr val="00B050"/>
                </a:solidFill>
                <a:effectLst/>
                <a:latin typeface="Calibri"/>
                <a:ea typeface="Calibri" panose="020F0502020204030204" pitchFamily="34" charset="0"/>
                <a:cs typeface="Times New Roman"/>
              </a:rPr>
              <a:t>independent variable)</a:t>
            </a:r>
            <a:endParaRPr lang="en-GB">
              <a:latin typeface="Calibri"/>
              <a:cs typeface="Times New Roman"/>
            </a:endParaRP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2</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3</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r>
              <a:rPr lang="en-GB" sz="2400" b="0" dirty="0">
                <a:latin typeface="Calibri"/>
                <a:cs typeface="Calibri"/>
              </a:rPr>
              <a:t>Add your </a:t>
            </a:r>
            <a:r>
              <a:rPr lang="en-GB" sz="2400" dirty="0">
                <a:latin typeface="Calibri"/>
                <a:cs typeface="Calibri"/>
              </a:rPr>
              <a:t>Hypotheses</a:t>
            </a:r>
            <a:r>
              <a:rPr lang="en-GB" sz="2400" b="0" dirty="0">
                <a:latin typeface="Calibri"/>
                <a:cs typeface="Calibri"/>
              </a:rPr>
              <a:t> to the previous RQ Slide  (both the Null and Alternative Hypotheses).  Here are definitions and examples. </a:t>
            </a:r>
            <a:r>
              <a:rPr lang="en-GB" sz="2400">
                <a:latin typeface="Calibri"/>
                <a:cs typeface="Calibri"/>
              </a:rPr>
              <a:t>Your hypothesis wording comes directly from your </a:t>
            </a:r>
            <a:r>
              <a:rPr lang="en-GB" sz="2400" dirty="0">
                <a:latin typeface="Calibri"/>
                <a:cs typeface="Calibri"/>
              </a:rPr>
              <a:t>RQ</a:t>
            </a:r>
            <a:r>
              <a:rPr lang="en-GB" sz="2400" b="0" dirty="0">
                <a:latin typeface="Calibri"/>
                <a:cs typeface="Calibri"/>
              </a:rPr>
              <a:t>. This is the formal way of reporting the results of your inferential test statistics,  in which we report the </a:t>
            </a:r>
            <a:r>
              <a:rPr lang="en-GB" sz="2400" b="0" i="1" dirty="0">
                <a:latin typeface="Calibri"/>
                <a:cs typeface="Calibri"/>
              </a:rPr>
              <a:t>effect</a:t>
            </a:r>
            <a:r>
              <a:rPr lang="en-GB" sz="2400" b="0" dirty="0">
                <a:latin typeface="Calibri"/>
                <a:cs typeface="Calibri"/>
              </a:rPr>
              <a:t> the independent variable has on the dependent variable – </a:t>
            </a:r>
          </a:p>
          <a:p>
            <a:pPr marL="457200" indent="-457200">
              <a:lnSpc>
                <a:spcPct val="100000"/>
              </a:lnSpc>
              <a:buAutoNum type="arabicPeriod"/>
            </a:pPr>
            <a:r>
              <a:rPr lang="en-GB" sz="2000" b="0">
                <a:latin typeface="Arial"/>
                <a:cs typeface="Arial"/>
              </a:rPr>
              <a:t>Null hypothesis (H</a:t>
            </a:r>
            <a:r>
              <a:rPr lang="en-GB" sz="2000" b="0" baseline="-25000">
                <a:latin typeface="Arial"/>
                <a:cs typeface="Arial"/>
              </a:rPr>
              <a:t>0</a:t>
            </a:r>
            <a:r>
              <a:rPr lang="en-GB" sz="2000" b="0">
                <a:latin typeface="Arial"/>
                <a:cs typeface="Arial"/>
              </a:rPr>
              <a:t>): There is </a:t>
            </a:r>
            <a:r>
              <a:rPr lang="en-GB" sz="2000">
                <a:latin typeface="Arial"/>
                <a:cs typeface="Arial"/>
              </a:rPr>
              <a:t>no </a:t>
            </a:r>
            <a:r>
              <a:rPr lang="en-GB" sz="2000" b="0">
                <a:latin typeface="Arial"/>
                <a:cs typeface="Arial"/>
              </a:rPr>
              <a:t>effect on the population – so you write one of the following:  </a:t>
            </a:r>
          </a:p>
          <a:p>
            <a:pPr>
              <a:lnSpc>
                <a:spcPct val="100000"/>
              </a:lnSpc>
            </a:pPr>
            <a:r>
              <a:rPr lang="en-GB" sz="2000" b="0">
                <a:solidFill>
                  <a:srgbClr val="FF0000"/>
                </a:solidFill>
                <a:latin typeface="Arial"/>
                <a:cs typeface="Arial"/>
              </a:rPr>
              <a:t>Null hypothesis (H</a:t>
            </a:r>
            <a:r>
              <a:rPr lang="en-GB" sz="2000" b="0" baseline="-25000">
                <a:solidFill>
                  <a:srgbClr val="FF0000"/>
                </a:solidFill>
                <a:latin typeface="Arial"/>
                <a:cs typeface="Arial"/>
              </a:rPr>
              <a:t>0</a:t>
            </a:r>
            <a:r>
              <a:rPr lang="en-GB" sz="2000" b="0">
                <a:solidFill>
                  <a:srgbClr val="FF0000"/>
                </a:solidFill>
                <a:latin typeface="Arial"/>
                <a:cs typeface="Arial"/>
              </a:rPr>
              <a:t>): There is </a:t>
            </a:r>
            <a:r>
              <a:rPr lang="en-GB" sz="2000">
                <a:solidFill>
                  <a:srgbClr val="FF0000"/>
                </a:solidFill>
                <a:latin typeface="Arial"/>
                <a:cs typeface="Arial"/>
              </a:rPr>
              <a:t>no</a:t>
            </a:r>
            <a:r>
              <a:rPr lang="en-GB" sz="2000" b="0">
                <a:solidFill>
                  <a:srgbClr val="FF0000"/>
                </a:solidFill>
                <a:latin typeface="Arial"/>
                <a:cs typeface="Arial"/>
              </a:rPr>
              <a:t> difference in the mean/median of the [dependent variable] between/among [subsets of the independent variable].              </a:t>
            </a:r>
            <a:r>
              <a:rPr lang="en-GB" sz="2000" b="0">
                <a:solidFill>
                  <a:schemeClr val="tx1"/>
                </a:solidFill>
                <a:latin typeface="Arial"/>
                <a:cs typeface="Arial"/>
              </a:rPr>
              <a:t>or</a:t>
            </a:r>
          </a:p>
          <a:p>
            <a:pPr>
              <a:lnSpc>
                <a:spcPct val="100000"/>
              </a:lnSpc>
            </a:pPr>
            <a:r>
              <a:rPr lang="en-GB" sz="2000" b="0">
                <a:solidFill>
                  <a:srgbClr val="FF0000"/>
                </a:solidFill>
                <a:latin typeface="Arial"/>
                <a:cs typeface="Arial"/>
              </a:rPr>
              <a:t>Null hypothesis (H</a:t>
            </a:r>
            <a:r>
              <a:rPr lang="en-GB" sz="2000" b="0" baseline="-25000">
                <a:solidFill>
                  <a:srgbClr val="FF0000"/>
                </a:solidFill>
                <a:latin typeface="Arial"/>
                <a:cs typeface="Arial"/>
              </a:rPr>
              <a:t>0</a:t>
            </a:r>
            <a:r>
              <a:rPr lang="en-GB" sz="2000" b="0">
                <a:solidFill>
                  <a:srgbClr val="FF0000"/>
                </a:solidFill>
                <a:latin typeface="Arial"/>
                <a:cs typeface="Arial"/>
              </a:rPr>
              <a:t>):  There is </a:t>
            </a:r>
            <a:r>
              <a:rPr lang="en-GB" sz="2000">
                <a:solidFill>
                  <a:srgbClr val="FF0000"/>
                </a:solidFill>
                <a:latin typeface="Arial"/>
                <a:cs typeface="Arial"/>
              </a:rPr>
              <a:t>no</a:t>
            </a:r>
            <a:r>
              <a:rPr lang="en-GB" sz="2000" b="0">
                <a:solidFill>
                  <a:srgbClr val="FF0000"/>
                </a:solidFill>
                <a:latin typeface="Arial"/>
                <a:cs typeface="Arial"/>
              </a:rPr>
              <a:t> difference in the proportions(s)of [subset(s) of dependent variable] between/among [subsets of independent variable].                     </a:t>
            </a:r>
            <a:r>
              <a:rPr lang="en-GB" sz="2000" b="0">
                <a:solidFill>
                  <a:schemeClr val="tx1"/>
                </a:solidFill>
                <a:latin typeface="Arial"/>
                <a:cs typeface="Arial"/>
              </a:rPr>
              <a:t>or</a:t>
            </a:r>
          </a:p>
          <a:p>
            <a:pPr>
              <a:lnSpc>
                <a:spcPct val="100000"/>
              </a:lnSpc>
            </a:pPr>
            <a:r>
              <a:rPr lang="en-GB" sz="2000" b="0">
                <a:solidFill>
                  <a:srgbClr val="FF0000"/>
                </a:solidFill>
                <a:latin typeface="Arial"/>
                <a:cs typeface="Arial"/>
              </a:rPr>
              <a:t>Null hypothesis (H</a:t>
            </a:r>
            <a:r>
              <a:rPr lang="en-GB" sz="2000" b="0" baseline="-25000">
                <a:solidFill>
                  <a:srgbClr val="FF0000"/>
                </a:solidFill>
                <a:latin typeface="Arial"/>
                <a:cs typeface="Arial"/>
              </a:rPr>
              <a:t>0</a:t>
            </a:r>
            <a:r>
              <a:rPr lang="en-GB" sz="2000" b="0">
                <a:solidFill>
                  <a:srgbClr val="FF0000"/>
                </a:solidFill>
                <a:latin typeface="Arial"/>
                <a:cs typeface="Arial"/>
              </a:rPr>
              <a:t>): There is </a:t>
            </a:r>
            <a:r>
              <a:rPr lang="en-GB" sz="2000">
                <a:solidFill>
                  <a:srgbClr val="FF0000"/>
                </a:solidFill>
                <a:latin typeface="Arial"/>
                <a:cs typeface="Arial"/>
              </a:rPr>
              <a:t>no</a:t>
            </a:r>
            <a:r>
              <a:rPr lang="en-GB" sz="2000" b="0">
                <a:solidFill>
                  <a:srgbClr val="FF0000"/>
                </a:solidFill>
                <a:latin typeface="Arial"/>
                <a:cs typeface="Arial"/>
              </a:rPr>
              <a:t> correlation between [dependent variable] and [independent variable].</a:t>
            </a:r>
          </a:p>
          <a:p>
            <a:pPr>
              <a:lnSpc>
                <a:spcPct val="100000"/>
              </a:lnSpc>
            </a:pPr>
            <a:r>
              <a:rPr lang="en-GB" sz="2000" b="0">
                <a:latin typeface="Arial"/>
                <a:cs typeface="Arial"/>
              </a:rPr>
              <a:t>2. Alternative hypothesis (H</a:t>
            </a:r>
            <a:r>
              <a:rPr lang="en-GB" sz="2000" b="0" baseline="-25000">
                <a:latin typeface="Arial"/>
                <a:cs typeface="Arial"/>
              </a:rPr>
              <a:t>1</a:t>
            </a:r>
            <a:r>
              <a:rPr lang="en-GB" sz="2000" b="0">
                <a:latin typeface="Arial"/>
                <a:cs typeface="Arial"/>
              </a:rPr>
              <a:t>):  There appears to be an effect on the population – so you copy what you wrote for the Null hypothesis but remove the ‘no’ and replace with ‘</a:t>
            </a:r>
            <a:r>
              <a:rPr lang="en-GB" sz="2000">
                <a:latin typeface="Arial"/>
                <a:cs typeface="Arial"/>
              </a:rPr>
              <a:t>a’  </a:t>
            </a:r>
            <a:r>
              <a:rPr lang="en-GB" sz="2000" b="0">
                <a:latin typeface="Arial"/>
                <a:cs typeface="Arial"/>
              </a:rPr>
              <a:t>For example:</a:t>
            </a:r>
          </a:p>
          <a:p>
            <a:pPr>
              <a:lnSpc>
                <a:spcPct val="100000"/>
              </a:lnSpc>
            </a:pPr>
            <a:r>
              <a:rPr lang="en-GB" sz="2000" b="0">
                <a:solidFill>
                  <a:srgbClr val="FF0000"/>
                </a:solidFill>
                <a:latin typeface="Arial"/>
                <a:cs typeface="Arial"/>
              </a:rPr>
              <a:t>Alt hypothesis (H</a:t>
            </a:r>
            <a:r>
              <a:rPr lang="en-GB" sz="2000" b="0" baseline="-25000">
                <a:solidFill>
                  <a:srgbClr val="FF0000"/>
                </a:solidFill>
                <a:latin typeface="Arial"/>
                <a:cs typeface="Arial"/>
              </a:rPr>
              <a:t>1</a:t>
            </a:r>
            <a:r>
              <a:rPr lang="en-GB" sz="2000" b="0">
                <a:solidFill>
                  <a:srgbClr val="FF0000"/>
                </a:solidFill>
                <a:latin typeface="Arial"/>
                <a:cs typeface="Arial"/>
              </a:rPr>
              <a:t>): There is </a:t>
            </a:r>
            <a:r>
              <a:rPr lang="en-GB" sz="2000">
                <a:solidFill>
                  <a:srgbClr val="FF0000"/>
                </a:solidFill>
                <a:latin typeface="Arial"/>
                <a:cs typeface="Arial"/>
              </a:rPr>
              <a:t>a</a:t>
            </a:r>
            <a:r>
              <a:rPr lang="en-GB" sz="2000" b="0">
                <a:solidFill>
                  <a:srgbClr val="FF0000"/>
                </a:solidFill>
                <a:latin typeface="Arial"/>
                <a:cs typeface="Arial"/>
              </a:rPr>
              <a:t> correlation between [dependent variable] and [independent variable].</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a:t>L</a:t>
            </a:r>
            <a:r>
              <a:rPr lang="en-GB" sz="1800" b="0"/>
              <a:t>eave the hypotheses as </a:t>
            </a:r>
            <a:r>
              <a:rPr lang="en-GB"/>
              <a:t>two </a:t>
            </a:r>
            <a:r>
              <a:rPr lang="en-GB" sz="1800" b="0"/>
              <a:t>statements for now – after your </a:t>
            </a:r>
            <a:r>
              <a:rPr lang="en-GB"/>
              <a:t>statistical </a:t>
            </a:r>
            <a:r>
              <a:rPr lang="en-GB" sz="1800" b="0"/>
              <a:t>analysis </a:t>
            </a:r>
            <a:r>
              <a:rPr lang="en-GB"/>
              <a:t>test, </a:t>
            </a:r>
            <a:r>
              <a:rPr lang="en-GB" sz="1800" b="0"/>
              <a:t>you </a:t>
            </a:r>
            <a:r>
              <a:rPr lang="en-GB"/>
              <a:t>will </a:t>
            </a:r>
            <a:r>
              <a:rPr lang="en-GB" sz="1800" b="0"/>
              <a:t>choose one or the other.</a:t>
            </a:r>
            <a:r>
              <a:rPr lang="en-GB"/>
              <a:t> (</a:t>
            </a:r>
            <a:r>
              <a:rPr lang="en-GB" i="1"/>
              <a:t>You will report: "We fail to reject the null hypothesis" with no significant result, or if you do have significance [p-value = &lt; 0.05] you can state "We reject the null hypothesis".   More guidance on hypothesis testing is given in the lectures</a:t>
            </a:r>
            <a:r>
              <a:rPr lang="en-GB"/>
              <a:t>.)</a:t>
            </a:r>
            <a:endParaRPr lang="en-GB">
              <a:cs typeface="Arial"/>
            </a:endParaRP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960</Words>
  <Application>Microsoft Macintosh PowerPoint</Application>
  <PresentationFormat>Widescreen</PresentationFormat>
  <Paragraphs>38</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Herts Theme</vt:lpstr>
      <vt:lpstr>Research Question –  Tutorial Presentation for Feedback Date:  </vt:lpstr>
      <vt:lpstr>Include summary information of your dataset, to include  The columns/variable names you include in your research question  (two columns). At least 5 rows of the data Tell us how many rows your dataset has.  </vt:lpstr>
      <vt:lpstr>This dataset is interesting to us because (one sentence):  From the column headings in your dataset choose ONE independent * and ONE dependent variable .  Our  Independent variable is: (the variable that remains constant /could cause an effect  on dep var)                    This  Independent variable datatype is (select one): Nominal/categorial  OR Ordinal OR Interval/measurement data. Our Dependent variable is: (your outcome variable that answers your RQ)                    This Dependent variable datatype is  (select one): Nominal/categorial  OR Ordinal OR Interval/measurement data</vt:lpstr>
      <vt:lpstr>Template 1: Interval/Ordinal vs Interval/Ordinal: “Is there a correlation between [dependent interval or ordinal variable] and [independent interval or ordinal variable?]”.   Template2 :Interval/Ordinal vs Nominal. data “Is there a difference in the mean of [dependent interval variable  or  dependent ordinal variable] between/among [independent nominal variable] and [independent nominal variable?]”.  Template 3:  Nominal vs Nominal  data (frequencies): “Is there a difference in proportions of [dependent nominal variable] between [independent nominal variable] and [independent nominal variable]?”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Danial Zafaranchizadeh Moghaddam [Student-PECS]</cp:lastModifiedBy>
  <cp:revision>117</cp:revision>
  <dcterms:created xsi:type="dcterms:W3CDTF">2019-10-01T08:37:56Z</dcterms:created>
  <dcterms:modified xsi:type="dcterms:W3CDTF">2025-11-19T10:25:52Z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