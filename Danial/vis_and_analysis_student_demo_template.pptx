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9" r:id="rId5"/>
    <p:sldId id="341" r:id="rId6"/>
    <p:sldId id="329" r:id="rId7"/>
    <p:sldId id="340" r:id="rId8"/>
    <p:sldId id="348" r:id="rId9"/>
    <p:sldId id="342" r:id="rId10"/>
    <p:sldId id="349" r:id="rId11"/>
    <p:sldId id="350" r:id="rId12"/>
    <p:sldId id="35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8706E-1E55-4BE3-9981-9E9409FA3F0E}" v="1" dt="2025-11-17T15:37:03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9"/>
    <p:restoredTop sz="94699"/>
  </p:normalViewPr>
  <p:slideViewPr>
    <p:cSldViewPr snapToGrid="0">
      <p:cViewPr varScale="1">
        <p:scale>
          <a:sx n="148" d="100"/>
          <a:sy n="148" d="100"/>
        </p:scale>
        <p:origin x="216" y="1536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jane Betrand" userId="S::mb13afy@herts.ac.uk::9d690930-63dc-4257-8532-dd49e7e9cf4d" providerId="AD" clId="Web-{0130B3CF-C872-458A-6D82-FB5B649CA2D1}"/>
    <pc:docChg chg="modSld">
      <pc:chgData name="Maryjane Betrand" userId="S::mb13afy@herts.ac.uk::9d690930-63dc-4257-8532-dd49e7e9cf4d" providerId="AD" clId="Web-{0130B3CF-C872-458A-6D82-FB5B649CA2D1}" dt="2025-11-07T13:24:07.473" v="2" actId="20577"/>
      <pc:docMkLst>
        <pc:docMk/>
      </pc:docMkLst>
      <pc:sldChg chg="modSp">
        <pc:chgData name="Maryjane Betrand" userId="S::mb13afy@herts.ac.uk::9d690930-63dc-4257-8532-dd49e7e9cf4d" providerId="AD" clId="Web-{0130B3CF-C872-458A-6D82-FB5B649CA2D1}" dt="2025-11-07T13:23:42.800" v="0" actId="20577"/>
        <pc:sldMkLst>
          <pc:docMk/>
          <pc:sldMk cId="4148532546" sldId="289"/>
        </pc:sldMkLst>
        <pc:spChg chg="mod">
          <ac:chgData name="Maryjane Betrand" userId="S::mb13afy@herts.ac.uk::9d690930-63dc-4257-8532-dd49e7e9cf4d" providerId="AD" clId="Web-{0130B3CF-C872-458A-6D82-FB5B649CA2D1}" dt="2025-11-07T13:23:42.800" v="0" actId="20577"/>
          <ac:spMkLst>
            <pc:docMk/>
            <pc:sldMk cId="4148532546" sldId="289"/>
            <ac:spMk id="4" creationId="{6E7F4D14-5620-EC41-A86C-6CC3CFD691B4}"/>
          </ac:spMkLst>
        </pc:spChg>
      </pc:sldChg>
      <pc:sldChg chg="modSp">
        <pc:chgData name="Maryjane Betrand" userId="S::mb13afy@herts.ac.uk::9d690930-63dc-4257-8532-dd49e7e9cf4d" providerId="AD" clId="Web-{0130B3CF-C872-458A-6D82-FB5B649CA2D1}" dt="2025-11-07T13:24:07.473" v="2" actId="20577"/>
        <pc:sldMkLst>
          <pc:docMk/>
          <pc:sldMk cId="1718004908" sldId="329"/>
        </pc:sldMkLst>
        <pc:spChg chg="mod">
          <ac:chgData name="Maryjane Betrand" userId="S::mb13afy@herts.ac.uk::9d690930-63dc-4257-8532-dd49e7e9cf4d" providerId="AD" clId="Web-{0130B3CF-C872-458A-6D82-FB5B649CA2D1}" dt="2025-11-07T13:24:07.473" v="2" actId="20577"/>
          <ac:spMkLst>
            <pc:docMk/>
            <pc:sldMk cId="1718004908" sldId="329"/>
            <ac:spMk id="3" creationId="{00EBC183-8AA5-EC44-9987-D65F5C1892A1}"/>
          </ac:spMkLst>
        </pc:spChg>
      </pc:sldChg>
    </pc:docChg>
  </pc:docChgLst>
  <pc:docChgLst>
    <pc:chgData name="Sarah Beecham" userId="3dff3769-a6f8-4999-99c7-104518196c07" providerId="ADAL" clId="{B053FDEB-A230-4C3D-AB28-1996D6638692}"/>
    <pc:docChg chg="custSel modSld">
      <pc:chgData name="Sarah Beecham" userId="3dff3769-a6f8-4999-99c7-104518196c07" providerId="ADAL" clId="{B053FDEB-A230-4C3D-AB28-1996D6638692}" dt="2025-11-17T15:38:57.719" v="259" actId="313"/>
      <pc:docMkLst>
        <pc:docMk/>
      </pc:docMkLst>
      <pc:sldChg chg="modSp mod">
        <pc:chgData name="Sarah Beecham" userId="3dff3769-a6f8-4999-99c7-104518196c07" providerId="ADAL" clId="{B053FDEB-A230-4C3D-AB28-1996D6638692}" dt="2025-11-17T15:37:08.359" v="196" actId="20577"/>
        <pc:sldMkLst>
          <pc:docMk/>
          <pc:sldMk cId="0" sldId="261"/>
        </pc:sldMkLst>
        <pc:spChg chg="mod">
          <ac:chgData name="Sarah Beecham" userId="3dff3769-a6f8-4999-99c7-104518196c07" providerId="ADAL" clId="{B053FDEB-A230-4C3D-AB28-1996D6638692}" dt="2025-11-17T15:37:08.359" v="196" actId="20577"/>
          <ac:spMkLst>
            <pc:docMk/>
            <pc:sldMk cId="0" sldId="261"/>
            <ac:spMk id="130" creationId="{00000000-0000-0000-0000-000000000000}"/>
          </ac:spMkLst>
        </pc:spChg>
      </pc:sldChg>
      <pc:sldChg chg="modSp mod">
        <pc:chgData name="Sarah Beecham" userId="3dff3769-a6f8-4999-99c7-104518196c07" providerId="ADAL" clId="{B053FDEB-A230-4C3D-AB28-1996D6638692}" dt="2025-11-17T15:38:57.719" v="259" actId="313"/>
        <pc:sldMkLst>
          <pc:docMk/>
          <pc:sldMk cId="0" sldId="262"/>
        </pc:sldMkLst>
        <pc:spChg chg="mod">
          <ac:chgData name="Sarah Beecham" userId="3dff3769-a6f8-4999-99c7-104518196c07" providerId="ADAL" clId="{B053FDEB-A230-4C3D-AB28-1996D6638692}" dt="2025-11-17T15:38:57.719" v="259" actId="313"/>
          <ac:spMkLst>
            <pc:docMk/>
            <pc:sldMk cId="0" sldId="262"/>
            <ac:spMk id="2" creationId="{58BC67A1-346D-734F-321E-2098D1481674}"/>
          </ac:spMkLst>
        </pc:spChg>
      </pc:sldChg>
      <pc:sldChg chg="modSp mod">
        <pc:chgData name="Sarah Beecham" userId="3dff3769-a6f8-4999-99c7-104518196c07" providerId="ADAL" clId="{B053FDEB-A230-4C3D-AB28-1996D6638692}" dt="2025-11-17T15:33:16.677" v="28" actId="20577"/>
        <pc:sldMkLst>
          <pc:docMk/>
          <pc:sldMk cId="32494612" sldId="336"/>
        </pc:sldMkLst>
        <pc:spChg chg="mod">
          <ac:chgData name="Sarah Beecham" userId="3dff3769-a6f8-4999-99c7-104518196c07" providerId="ADAL" clId="{B053FDEB-A230-4C3D-AB28-1996D6638692}" dt="2025-11-17T15:33:16.677" v="28" actId="20577"/>
          <ac:spMkLst>
            <pc:docMk/>
            <pc:sldMk cId="32494612" sldId="336"/>
            <ac:spMk id="7" creationId="{F7FEA660-7B39-BC91-3B96-7298CCF66DE1}"/>
          </ac:spMkLst>
        </pc:spChg>
      </pc:sldChg>
      <pc:sldChg chg="modSp mod">
        <pc:chgData name="Sarah Beecham" userId="3dff3769-a6f8-4999-99c7-104518196c07" providerId="ADAL" clId="{B053FDEB-A230-4C3D-AB28-1996D6638692}" dt="2025-11-17T15:35:36.933" v="159" actId="1076"/>
        <pc:sldMkLst>
          <pc:docMk/>
          <pc:sldMk cId="3608140810" sldId="339"/>
        </pc:sldMkLst>
        <pc:spChg chg="mod">
          <ac:chgData name="Sarah Beecham" userId="3dff3769-a6f8-4999-99c7-104518196c07" providerId="ADAL" clId="{B053FDEB-A230-4C3D-AB28-1996D6638692}" dt="2025-11-17T15:34:29.583" v="132" actId="20577"/>
          <ac:spMkLst>
            <pc:docMk/>
            <pc:sldMk cId="3608140810" sldId="339"/>
            <ac:spMk id="7" creationId="{F7FEA660-7B39-BC91-3B96-7298CCF66DE1}"/>
          </ac:spMkLst>
        </pc:spChg>
        <pc:spChg chg="mod">
          <ac:chgData name="Sarah Beecham" userId="3dff3769-a6f8-4999-99c7-104518196c07" providerId="ADAL" clId="{B053FDEB-A230-4C3D-AB28-1996D6638692}" dt="2025-11-17T15:35:36.933" v="159" actId="1076"/>
          <ac:spMkLst>
            <pc:docMk/>
            <pc:sldMk cId="3608140810" sldId="339"/>
            <ac:spMk id="8" creationId="{08296624-D625-8A51-63F8-EC461F283B3B}"/>
          </ac:spMkLst>
        </pc:spChg>
        <pc:spChg chg="mod">
          <ac:chgData name="Sarah Beecham" userId="3dff3769-a6f8-4999-99c7-104518196c07" providerId="ADAL" clId="{B053FDEB-A230-4C3D-AB28-1996D6638692}" dt="2025-11-17T15:35:29.123" v="158" actId="1076"/>
          <ac:spMkLst>
            <pc:docMk/>
            <pc:sldMk cId="3608140810" sldId="339"/>
            <ac:spMk id="12" creationId="{F41CBD45-A845-C335-489D-8BB5DDD408DD}"/>
          </ac:spMkLst>
        </pc:spChg>
      </pc:sldChg>
      <pc:sldChg chg="modSp mod">
        <pc:chgData name="Sarah Beecham" userId="3dff3769-a6f8-4999-99c7-104518196c07" providerId="ADAL" clId="{B053FDEB-A230-4C3D-AB28-1996D6638692}" dt="2025-11-17T15:32:31.739" v="8" actId="20577"/>
        <pc:sldMkLst>
          <pc:docMk/>
          <pc:sldMk cId="2723358785" sldId="340"/>
        </pc:sldMkLst>
        <pc:spChg chg="mod">
          <ac:chgData name="Sarah Beecham" userId="3dff3769-a6f8-4999-99c7-104518196c07" providerId="ADAL" clId="{B053FDEB-A230-4C3D-AB28-1996D6638692}" dt="2025-11-17T15:32:31.739" v="8" actId="20577"/>
          <ac:spMkLst>
            <pc:docMk/>
            <pc:sldMk cId="2723358785" sldId="340"/>
            <ac:spMk id="7" creationId="{F7FEA660-7B39-BC91-3B96-7298CCF66DE1}"/>
          </ac:spMkLst>
        </pc:spChg>
      </pc:sldChg>
      <pc:sldChg chg="modSp mod">
        <pc:chgData name="Sarah Beecham" userId="3dff3769-a6f8-4999-99c7-104518196c07" providerId="ADAL" clId="{B053FDEB-A230-4C3D-AB28-1996D6638692}" dt="2025-11-17T15:31:40.436" v="1" actId="20577"/>
        <pc:sldMkLst>
          <pc:docMk/>
          <pc:sldMk cId="2339144795" sldId="341"/>
        </pc:sldMkLst>
        <pc:spChg chg="mod">
          <ac:chgData name="Sarah Beecham" userId="3dff3769-a6f8-4999-99c7-104518196c07" providerId="ADAL" clId="{B053FDEB-A230-4C3D-AB28-1996D6638692}" dt="2025-11-17T15:31:40.436" v="1" actId="20577"/>
          <ac:spMkLst>
            <pc:docMk/>
            <pc:sldMk cId="2339144795" sldId="341"/>
            <ac:spMk id="5" creationId="{A5F0AC96-5BAE-FDAC-4EAC-17779A2B06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25/11/2025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70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C5D25-D087-1E33-21F3-F2D05AE8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1E666-23AD-E094-1ACB-CF50A9BC2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4071A-4E2A-11B3-FB8F-63E7413B4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4D051-5520-E1C3-2642-4EEBFFBA2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04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Visualization and Analysis – </a:t>
            </a:r>
            <a:br>
              <a:rPr lang="en-US"/>
            </a:br>
            <a:r>
              <a:rPr lang="en-US" sz="4000"/>
              <a:t>Tutorial Presentation for Feedback</a:t>
            </a:r>
            <a:br>
              <a:rPr lang="en-US" sz="4000"/>
            </a:br>
            <a:r>
              <a:rPr lang="en-US" sz="2200"/>
              <a:t>Date: 26 November 2025</a:t>
            </a:r>
            <a:br>
              <a:rPr lang="en-US" sz="8000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/>
              <a:t>Group Id: A-199                                                          Name of Student Presenting: Danial Zaf.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A-199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00" y="1355611"/>
            <a:ext cx="7200000" cy="360000"/>
          </a:xfrm>
        </p:spPr>
        <p:txBody>
          <a:bodyPr/>
          <a:lstStyle/>
          <a:p>
            <a:r>
              <a:rPr lang="en-US"/>
              <a:t>Part 1: VISUALISATION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750A5-C5AD-CEC8-7CD5-C4412264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7COM1079-2025  Student Group No: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254809"/>
            <a:ext cx="10545460" cy="588024"/>
          </a:xfrm>
        </p:spPr>
        <p:txBody>
          <a:bodyPr/>
          <a:lstStyle/>
          <a:p>
            <a: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are using the dataset </a:t>
            </a:r>
            <a:r>
              <a:rPr lang="en-US" sz="180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DS134 - london_weather.csv</a:t>
            </a:r>
            <a: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answer our Research Question  “Is there a difference in the mean of daily precipitation among the seasons in London from 1979 to 2020?”</a:t>
            </a:r>
            <a:endParaRPr lang="en-US" sz="1800" spc="0" baseline="30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80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791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D01F2-D2EF-DFD7-1A69-5730702DC4BD}"/>
              </a:ext>
            </a:extLst>
          </p:cNvPr>
          <p:cNvSpPr txBox="1"/>
          <p:nvPr/>
        </p:nvSpPr>
        <p:spPr>
          <a:xfrm>
            <a:off x="965288" y="4402862"/>
            <a:ext cx="108312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The database has 10 columns and 15,341 Rows. We will use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precipitation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(mm) and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columns.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Independent Variable: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==&gt;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Season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(Nominal)         |        Dependent Variable: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precipitation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(Interval)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69232595-6901-987B-9BBF-01FC9746C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" y="2185176"/>
            <a:ext cx="10836621" cy="190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B71E67-EBA6-8854-0835-29697F681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42" y="321580"/>
            <a:ext cx="7499943" cy="621484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3876" y="560190"/>
            <a:ext cx="7176911" cy="230832"/>
          </a:xfrm>
        </p:spPr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A64CC-C2D2-05FA-743D-AC91E232D901}"/>
              </a:ext>
            </a:extLst>
          </p:cNvPr>
          <p:cNvSpPr txBox="1"/>
          <p:nvPr/>
        </p:nvSpPr>
        <p:spPr>
          <a:xfrm>
            <a:off x="796865" y="2967335"/>
            <a:ext cx="3665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Variable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precipitation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(mm) is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not normally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distributed.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35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145A-7D1F-CB1C-1C8F-0FDBA589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7A55A-4C52-0C8B-583D-DCF438C6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D3D0D-3AE2-9FE3-3B2B-644E94CA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3876" y="560190"/>
            <a:ext cx="7176911" cy="230832"/>
          </a:xfrm>
        </p:spPr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F7BB40-CEB5-2699-8CA0-D18DD17F5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210" y="642257"/>
            <a:ext cx="7477790" cy="5993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194263-091B-5255-0BD0-04296B4CC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76" y="2062842"/>
            <a:ext cx="3622620" cy="273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7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698171"/>
            <a:ext cx="10285200" cy="551829"/>
          </a:xfrm>
        </p:spPr>
        <p:txBody>
          <a:bodyPr/>
          <a:lstStyle/>
          <a:p>
            <a:r>
              <a:rPr lang="en-US"/>
              <a:t>Part 2: Analysis (building on your Visualizations)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7CE03-B588-8643-02BA-1E1B7256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DA92-5052-A1B8-EB0E-9E052399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F38CB9-43A9-041E-9183-8D3514DD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488C9-F3B1-C5D2-F600-CCF53C55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729F23A6-A036-5858-9C38-6D5C05A9B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370025"/>
            <a:ext cx="10867483" cy="588024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</a:pP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 hypothesis (H</a:t>
            </a:r>
            <a:r>
              <a:rPr lang="en-US" altLang="en-US" sz="1800" b="0" strike="sngStrike" spc="0" baseline="-25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​): </a:t>
            </a:r>
            <a:r>
              <a:rPr lang="fa-IR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is </a:t>
            </a:r>
            <a:r>
              <a:rPr lang="en-US" altLang="en-US" sz="180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difference</a:t>
            </a: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mean of daily precipitation among the seasons in London.</a:t>
            </a:r>
            <a:br>
              <a:rPr lang="en-US" altLang="en-US" sz="180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Alternative hypothesis (H</a:t>
            </a:r>
            <a:r>
              <a:rPr lang="en-US" altLang="en-US" sz="1800" b="0" spc="0" baseline="-25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​): There is </a:t>
            </a:r>
            <a:r>
              <a:rPr lang="en-US" altLang="en-US" sz="180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difference </a:t>
            </a: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mean of daily precipitation among the seasons in London.</a:t>
            </a:r>
            <a:endParaRPr lang="en-US" altLang="en-US" sz="1800" b="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80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22B57C-CE8F-C90E-6A7E-F49BC2304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88" y="2117658"/>
            <a:ext cx="7772400" cy="2708947"/>
          </a:xfrm>
          <a:prstGeom prst="rect">
            <a:avLst/>
          </a:prstGeom>
        </p:spPr>
      </p:pic>
      <p:sp>
        <p:nvSpPr>
          <p:cNvPr id="10" name="Subtitle 1">
            <a:extLst>
              <a:ext uri="{FF2B5EF4-FFF2-40B4-BE49-F238E27FC236}">
                <a16:creationId xmlns:a16="http://schemas.microsoft.com/office/drawing/2014/main" id="{D1FEAE7A-20A3-E540-5462-32D635312897}"/>
              </a:ext>
            </a:extLst>
          </p:cNvPr>
          <p:cNvSpPr txBox="1">
            <a:spLocks/>
          </p:cNvSpPr>
          <p:nvPr/>
        </p:nvSpPr>
        <p:spPr>
          <a:xfrm>
            <a:off x="965288" y="4986214"/>
            <a:ext cx="10867483" cy="588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None/>
              <a:defRPr sz="3600" b="1" kern="3000" spc="-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None/>
              <a:defRPr sz="2000" kern="2000" spc="-100" baseline="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None/>
              <a:defRPr sz="1800" kern="2000" spc="-100" baseline="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216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216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</a:pP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means that precipitation patterns in London from 1979 to 2020 are specific to each of the four seasons.</a:t>
            </a:r>
            <a:endParaRPr lang="en-US" sz="1800" b="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27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C24D-ED18-5BAC-6A5F-9D78AB31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38F1A-E57B-BD73-C70B-2F1B70A7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1087-87E7-8CAB-F85E-0713B5A3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204D3C-3010-4662-B4F9-C3A245AEB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836910"/>
              </p:ext>
            </p:extLst>
          </p:nvPr>
        </p:nvGraphicFramePr>
        <p:xfrm>
          <a:off x="1371600" y="1303591"/>
          <a:ext cx="9448800" cy="387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9720">
                  <a:extLst>
                    <a:ext uri="{9D8B030D-6E8A-4147-A177-3AD203B41FA5}">
                      <a16:colId xmlns:a16="http://schemas.microsoft.com/office/drawing/2014/main" val="3509899510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1549144435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610658613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1465599194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3944310038"/>
                    </a:ext>
                  </a:extLst>
                </a:gridCol>
              </a:tblGrid>
              <a:tr h="593907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Winter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6524046"/>
                  </a:ext>
                </a:extLst>
              </a:tr>
              <a:tr h="89673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Spring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8.0e-07</a:t>
                      </a:r>
                      <a:br>
                        <a:rPr lang="en-US" sz="1500"/>
                      </a:br>
                      <a:r>
                        <a:rPr lang="en-US" sz="1300"/>
                        <a:t>Very significant difference</a:t>
                      </a:r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9576025"/>
                  </a:ext>
                </a:extLst>
              </a:tr>
              <a:tr h="89673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Summer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/>
                        <a:t>2.8e-16</a:t>
                      </a:r>
                      <a:br>
                        <a:rPr lang="en-US" sz="1500"/>
                      </a:br>
                      <a:r>
                        <a:rPr lang="en-US" sz="1300"/>
                        <a:t>Very significant difference</a:t>
                      </a:r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0.0021</a:t>
                      </a:r>
                      <a:br>
                        <a:rPr lang="en-US" sz="1500"/>
                      </a:br>
                      <a:r>
                        <a:rPr lang="en-US" sz="1300"/>
                        <a:t>significant difference</a:t>
                      </a:r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9261946"/>
                  </a:ext>
                </a:extLst>
              </a:tr>
              <a:tr h="89673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Autumn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/>
                        <a:t>0.0021</a:t>
                      </a:r>
                      <a:br>
                        <a:rPr lang="en-US" sz="1300"/>
                      </a:br>
                      <a:r>
                        <a:rPr lang="en-US" sz="1300"/>
                        <a:t>significant difference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2.8e-16</a:t>
                      </a:r>
                      <a:br>
                        <a:rPr lang="en-US" sz="1300"/>
                      </a:br>
                      <a:r>
                        <a:rPr lang="en-US" sz="1300"/>
                        <a:t>Very significant difference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&lt; 2e-16</a:t>
                      </a:r>
                      <a:br>
                        <a:rPr lang="en-US" sz="1300"/>
                      </a:br>
                      <a:r>
                        <a:rPr lang="en-US" sz="1300"/>
                        <a:t>Very significant difference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26506"/>
                  </a:ext>
                </a:extLst>
              </a:tr>
              <a:tr h="593907">
                <a:tc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Winter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Spring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Summer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Autumn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4903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78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CF27-008A-91E7-EF9D-AE0E3E72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D1EAB-EEB8-5E6E-26A2-3FD88E95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BC68-EE1E-EEEA-24F2-435E3330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4A2243B-B906-64CC-A378-A7977385B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89" y="1207391"/>
            <a:ext cx="4640943" cy="4135679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900D8D9-FCB8-202A-2048-07F869FF5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7391"/>
            <a:ext cx="5407996" cy="33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59030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Props1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299</Words>
  <Application>Microsoft Macintosh PowerPoint</Application>
  <PresentationFormat>Widescreen</PresentationFormat>
  <Paragraphs>52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Calibri</vt:lpstr>
      <vt:lpstr>Herts Theme</vt:lpstr>
      <vt:lpstr>Visualization and Analysis –  Tutorial Presentation for Feedback Date: 26 November 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Danial Zafaranchizadeh Moghaddam [Student-PECS]</cp:lastModifiedBy>
  <cp:revision>13</cp:revision>
  <dcterms:created xsi:type="dcterms:W3CDTF">2019-10-01T08:37:56Z</dcterms:created>
  <dcterms:modified xsi:type="dcterms:W3CDTF">2025-11-26T14:57:09Z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